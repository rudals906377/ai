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68" r:id="rId19"/>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04B96E1F-02B1-C460-820F-6AB81763EC01}">
          <p14:sldIdLst>
            <p14:sldId id="256"/>
            <p14:sldId id="257"/>
            <p14:sldId id="258"/>
          </p14:sldIdLst>
        </p14:section>
        <p14:section name="결과 화면" id="{C1BA3FDD-760B-C11B-1F98-0B9DF76323F2}">
          <p14:sldIdLst>
            <p14:sldId id="259"/>
            <p14:sldId id="260"/>
          </p14:sldIdLst>
        </p14:section>
        <p14:section name="동작 방식과 성능" id="{27331B8C-31F7-9593-3B07-BDEEF99644C6}">
          <p14:sldIdLst>
            <p14:sldId id="261"/>
            <p14:sldId id="262"/>
            <p14:sldId id="263"/>
            <p14:sldId id="264"/>
          </p14:sldIdLst>
        </p14:section>
        <p14:section name="마무리" id="{63445476-BAFC-B2F0-E9C2-9E7A1A5F4527}">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2" d="100"/>
          <a:sy n="102" d="100"/>
        </p:scale>
        <p:origin x="114"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  <Relationship Id="rId18" Type="http://schemas.openxmlformats.org/officeDocument/2006/relationships/slide" Target="slides/slide12.xml"/>
  <Relationship Id="rId19" Type="http://schemas.openxmlformats.org/officeDocument/2006/relationships/slide" Target="slides/slide13.xml"/>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200" b="0" i="0" u="none" strike="noStrike">
                <a:solidFill>
                  <a:srgbClr val="2E2622"/>
                </a:solidFill>
                <a:latin typeface="+mn-lt"/>
              </a:defRPr>
            </a:pPr>
            <a:r>
              <a:rPr lang="ko-KR" altLang="en-US" sz="1200" b="0" i="0" u="none" strike="noStrike" dirty="0">
                <a:solidFill>
                  <a:srgbClr val="2E2622"/>
                </a:solidFill>
                <a:latin typeface="+mn-lt"/>
              </a:rPr>
              <a:t>학습에 쓰지 않은 사진으로 잰 정확도 </a:t>
            </a:r>
            <a:r>
              <a:rPr lang="en-US" altLang="ko-KR" sz="1200" b="0" i="0" u="none" strike="noStrike" dirty="0">
                <a:solidFill>
                  <a:srgbClr val="2E2622"/>
                </a:solidFill>
                <a:latin typeface="+mn-lt"/>
              </a:rPr>
              <a:t>(%)</a:t>
            </a:r>
          </a:p>
        </c:rich>
      </c:tx>
      <c:overlay val="0"/>
    </c:title>
    <c:autoTitleDeleted val="0"/>
    <c:plotArea>
      <c:layout/>
      <c:barChart>
        <c:barDir val="col"/>
        <c:grouping val="clustered"/>
        <c:varyColors val="0"/>
        <c:ser>
          <c:idx val="0"/>
          <c:order val="0"/>
          <c:tx>
            <c:strRef>
              <c:f>Sheet1!$B$1</c:f>
              <c:strCache>
                <c:ptCount val="1"/>
                <c:pt idx="0">
                  <c:v>제로샷</c:v>
                </c:pt>
              </c:strCache>
            </c:strRef>
          </c:tx>
          <c:spPr>
            <a:solidFill>
              <a:srgbClr val="D6CABB"/>
            </a:solidFill>
            <a:effectLst/>
          </c:spPr>
          <c:invertIfNegative val="0"/>
          <c:dLbls>
            <c:numFmt formatCode="0.0" sourceLinked="0"/>
            <c:spPr>
              <a:noFill/>
              <a:ln>
                <a:noFill/>
              </a:ln>
              <a:effectLst/>
            </c:spPr>
            <c:txPr>
              <a:bodyPr/>
              <a:lstStyle/>
              <a:p>
                <a:pPr>
                  <a:defRPr sz="900" b="0" i="0" u="none" strike="noStrike">
                    <a:solidFill>
                      <a:srgbClr val="5A4D43"/>
                    </a:solidFill>
                    <a:latin typeface="+mn-lt"/>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속성 정확도</c:v>
                </c:pt>
                <c:pt idx="1">
                  <c:v>평가 세트</c:v>
                </c:pt>
                <c:pt idx="2">
                  <c:v>한국 스타일 사진</c:v>
                </c:pt>
                <c:pt idx="3">
                  <c:v>뷰티 사진 판별</c:v>
                </c:pt>
              </c:strCache>
            </c:strRef>
          </c:cat>
          <c:val>
            <c:numRef>
              <c:f>Sheet1!$B$2:$B$5</c:f>
              <c:numCache>
                <c:formatCode>General</c:formatCode>
                <c:ptCount val="4"/>
                <c:pt idx="0">
                  <c:v>53</c:v>
                </c:pt>
                <c:pt idx="1">
                  <c:v>58</c:v>
                </c:pt>
                <c:pt idx="2">
                  <c:v>53.2</c:v>
                </c:pt>
                <c:pt idx="3">
                  <c:v>80.099999999999994</c:v>
                </c:pt>
              </c:numCache>
            </c:numRef>
          </c:val>
          <c:extLst>
            <c:ext xmlns:c16="http://schemas.microsoft.com/office/drawing/2014/chart" uri="{C3380CC4-5D6E-409C-BE32-E72D297353CC}">
              <c16:uniqueId val="{00000000-34E6-46AE-8F6B-4234467D185C}"/>
            </c:ext>
          </c:extLst>
        </c:ser>
        <c:ser>
          <c:idx val="1"/>
          <c:order val="1"/>
          <c:tx>
            <c:strRef>
              <c:f>Sheet1!$C$1</c:f>
              <c:strCache>
                <c:ptCount val="1"/>
                <c:pt idx="0">
                  <c:v>기본 + 분류기</c:v>
                </c:pt>
              </c:strCache>
            </c:strRef>
          </c:tx>
          <c:spPr>
            <a:solidFill>
              <a:srgbClr val="A47864"/>
            </a:solidFill>
            <a:effectLst/>
          </c:spPr>
          <c:invertIfNegative val="0"/>
          <c:dLbls>
            <c:numFmt formatCode="0.0" sourceLinked="0"/>
            <c:spPr>
              <a:noFill/>
              <a:ln>
                <a:noFill/>
              </a:ln>
              <a:effectLst/>
            </c:spPr>
            <c:txPr>
              <a:bodyPr/>
              <a:lstStyle/>
              <a:p>
                <a:pPr>
                  <a:defRPr sz="900" b="0" i="0" u="none" strike="noStrike">
                    <a:solidFill>
                      <a:srgbClr val="5A4D43"/>
                    </a:solidFill>
                    <a:latin typeface="+mn-lt"/>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속성 정확도</c:v>
                </c:pt>
                <c:pt idx="1">
                  <c:v>평가 세트</c:v>
                </c:pt>
                <c:pt idx="2">
                  <c:v>한국 스타일 사진</c:v>
                </c:pt>
                <c:pt idx="3">
                  <c:v>뷰티 사진 판별</c:v>
                </c:pt>
              </c:strCache>
            </c:strRef>
          </c:cat>
          <c:val>
            <c:numRef>
              <c:f>Sheet1!$C$2:$C$5</c:f>
              <c:numCache>
                <c:formatCode>General</c:formatCode>
                <c:ptCount val="4"/>
                <c:pt idx="0">
                  <c:v>73.400000000000006</c:v>
                </c:pt>
                <c:pt idx="1">
                  <c:v>75.099999999999994</c:v>
                </c:pt>
                <c:pt idx="2">
                  <c:v>72.3</c:v>
                </c:pt>
                <c:pt idx="3">
                  <c:v>95.8</c:v>
                </c:pt>
              </c:numCache>
            </c:numRef>
          </c:val>
          <c:extLst>
            <c:ext xmlns:c16="http://schemas.microsoft.com/office/drawing/2014/chart" uri="{C3380CC4-5D6E-409C-BE32-E72D297353CC}">
              <c16:uniqueId val="{00000001-34E6-46AE-8F6B-4234467D185C}"/>
            </c:ext>
          </c:extLst>
        </c:ser>
        <c:ser>
          <c:idx val="2"/>
          <c:order val="2"/>
          <c:tx>
            <c:strRef>
              <c:f>Sheet1!$D$1</c:f>
              <c:strCache>
                <c:ptCount val="1"/>
                <c:pt idx="0">
                  <c:v>정밀 + 분류기</c:v>
                </c:pt>
              </c:strCache>
            </c:strRef>
          </c:tx>
          <c:spPr>
            <a:solidFill>
              <a:srgbClr val="5A4D43"/>
            </a:solidFill>
            <a:effectLst/>
          </c:spPr>
          <c:invertIfNegative val="0"/>
          <c:dLbls>
            <c:numFmt formatCode="0.0" sourceLinked="0"/>
            <c:spPr>
              <a:noFill/>
              <a:ln>
                <a:noFill/>
              </a:ln>
              <a:effectLst/>
            </c:spPr>
            <c:txPr>
              <a:bodyPr/>
              <a:lstStyle/>
              <a:p>
                <a:pPr>
                  <a:defRPr sz="900" b="0" i="0" u="none" strike="noStrike">
                    <a:solidFill>
                      <a:srgbClr val="5A4D43"/>
                    </a:solidFill>
                    <a:latin typeface="+mn-lt"/>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속성 정확도</c:v>
                </c:pt>
                <c:pt idx="1">
                  <c:v>평가 세트</c:v>
                </c:pt>
                <c:pt idx="2">
                  <c:v>한국 스타일 사진</c:v>
                </c:pt>
                <c:pt idx="3">
                  <c:v>뷰티 사진 판별</c:v>
                </c:pt>
              </c:strCache>
            </c:strRef>
          </c:cat>
          <c:val>
            <c:numRef>
              <c:f>Sheet1!$D$2:$D$5</c:f>
              <c:numCache>
                <c:formatCode>General</c:formatCode>
                <c:ptCount val="4"/>
                <c:pt idx="0">
                  <c:v>75.400000000000006</c:v>
                </c:pt>
                <c:pt idx="1">
                  <c:v>78</c:v>
                </c:pt>
                <c:pt idx="2">
                  <c:v>74.5</c:v>
                </c:pt>
                <c:pt idx="3">
                  <c:v>94.8</c:v>
                </c:pt>
              </c:numCache>
            </c:numRef>
          </c:val>
          <c:extLst>
            <c:ext xmlns:c16="http://schemas.microsoft.com/office/drawing/2014/chart" uri="{C3380CC4-5D6E-409C-BE32-E72D297353CC}">
              <c16:uniqueId val="{00000002-34E6-46AE-8F6B-4234467D185C}"/>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4D43"/>
                </a:solidFill>
                <a:latin typeface="+mn-lt"/>
              </a:defRPr>
            </a:pPr>
            <a:endParaRPr lang="ko-KR"/>
          </a:p>
        </c:txPr>
        <c:crossAx val="2094734552"/>
        <c:crosses val="autoZero"/>
        <c:auto val="1"/>
        <c:lblAlgn val="ctr"/>
        <c:lblOffset val="100"/>
        <c:noMultiLvlLbl val="1"/>
      </c:catAx>
      <c:valAx>
        <c:axId val="2094734552"/>
        <c:scaling>
          <c:orientation val="minMax"/>
          <c:max val="100"/>
          <c:min val="0"/>
        </c:scaling>
        <c:delete val="0"/>
        <c:axPos val="l"/>
        <c:majorGridlines>
          <c:spPr>
            <a:ln w="9525" cap="flat">
              <a:solidFill>
                <a:srgbClr val="E9E1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74665A"/>
                </a:solidFill>
                <a:latin typeface="+mn-lt"/>
              </a:defRPr>
            </a:pPr>
            <a:endParaRPr lang="ko-KR"/>
          </a:p>
        </c:txPr>
        <c:crossAx val="2094734554"/>
        <c:crosses val="autoZero"/>
        <c:crossBetween val="between"/>
        <c:majorUnit val="25"/>
      </c:valAx>
      <c:spPr>
        <a:noFill/>
        <a:ln>
          <a:noFill/>
        </a:ln>
        <a:effectLst/>
      </c:spPr>
    </c:plotArea>
    <c:legend>
      <c:legendPos val="b"/>
      <c:overlay val="0"/>
      <c:txPr>
        <a:bodyPr/>
        <a:lstStyle/>
        <a:p>
          <a:pPr>
            <a:defRPr sz="1100">
              <a:solidFill>
                <a:srgbClr val="5A4D43"/>
              </a:solidFill>
              <a:latin typeface="+mn-lt"/>
              <a:cs typeface="+mn-lt"/>
            </a:defRPr>
          </a:pPr>
          <a:endParaRPr lang="ko-KR"/>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117397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사진 한 장으로 헤어, 네일, 메이크업, 타투 스타일을 한국어로 설명해 주는 뷰티 스타일 AI 분석을 발표하겠습니다. 오른쪽이 실제 화면입니다.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미용실이나 네일숍에서 사진을 보여 주면서 이렇게 해 주세요 해 보신 적 있으실 거예요. 그런데 이 머리가 허쉬컷인지 레이어드컷인지, 이 네일이 자석인지 크롬인지 이름을 모르면 검색도, 설명도 어렵습니다. 그래서 사진 한 장을 넣으면 스타일을 한국어 이름과 문장으로 설명해 주는 AI 를 만들었습니다.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순서] 1. 예시 헤어 사진 클릭: 장르 레이어드컷 + S컬펌, 트렌드 키워드와 설명 문장이 나옵니다. 2. 문장 끝의 말투: 확실할 때만 "~예요", 애매하면 "~로 보여요". 단정한 문장은 96% 맞습니다. 3. 속성별 판단 근거 막대: 확률과 다음 후보, 틀리면 "수정". 4. 시술 요청서 → 이미지로 저장: 확실한 항목은 표, 애매한 항목은 "상담 때 정할 것", 사진 속 머리 색 약 3레벨. 5. 내 사진 올리기: 사진은 서버로 가지 않습니다. 6. 네일 탭 → 사진 클릭, 비슷한 스타일 한 장 클릭. 시연이 안 되면 다음 슬라이드들의 화면으로 설명합니다.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시연이 안 될 때는 이 화면으로 설명합니다. 사진 한 장을 넣으면 장르와 트렌드 키워드, 설명 문장, 사진 속 실제 색, 시술 요청서, 이 스타일이 잘 어울리는 사람 추천, 비슷한 예시 스타일, 그리고 용어 설명까지 일곱 가지가 나옵니다. 분류명은 한국 매거진과 살롱, 커뮤니티 용어 약 440개를 조사해서 정한 324개입니다.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미용실에 그대로 보여 줄 수 있는 시술 요청서입니다. 확실한 항목은 표로 보여 주고, 애매한 항목은 상담 때 정할 것으로 따로 나눕니다. 사진에서 머리카락 부분만 찾아 실제 색을 뽑아서 약 3레벨처럼 알려 줍니다. 이미지로 저장하면 이렇게 한 장으로 나오고, 휴대폰에서는 카카오톡 같은 공유 창이 바로 열립니다.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핵심은 Transformers.js 입니다. Hugging Face 모델을 서버 없이 브라우저에서 바로 돌리는 라이브러리입니다. 사진을 SigLIP 계열 비전 모델에 한 번 넣으면 숫자 벡터가 나옵니다. 이 벡터를 라벨 324개의 영어 설명 문장 벡터와 비교하는 것이 제로샷 분류입니다. 여기에 라벨을 단 사진 약 2천 장으로 학습한 작은 분류기를 얹었고, 표시 확률이 실제 적중률과 맞도록 보정했습니다. 설명 문장은 생성형 AI 가 아니라 규칙으로 조립해서 없는 내용을 지어내지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정확도 숫자 하나보다 신경 쓴 것은 확실할 때만 단정하는 것입니다. 확률을 실제 적중률에 맞게 보정해서, 90% 이상일 때만 "~예요"라고 단정합니다. 이렇게 단정한 문장은 96% 맞습니다. 50에서 90% 사이는 "~로 보여요"라고 말하고, 50% 미만은 맞을 확률이 절반도 안 되기 때문에 문장에서 빼고 후보 막대로만 보여 줍니다.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6개를 같은 시험 사진으로 비교해서 골랐습니다. 제로샷만 쓰면 53% 였는데, 분류기를 얹어 73에서 78% 가 됐습니다. 모든 숫자는 학습에 쓰지 않은 사진으로 잰 값입니다. 75% 가 낮아 보일 수 있는데, 라벨이 324개로 세밀해서 사람 두 명이 같은 사진에 라벨을 달아도 92% 만 일치합니다. 그래서 이것이 사실상 상한이고, 대신 확실할 때만 단정하는 데 집중했습니다.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크게 배운 점은 라벨의 질이 양보다 중요하다는 것입니다. 검색어로 자동 라벨을 단 1만 장은 효과가 없었고, 사진을 직접 보고 단 280장이 5.9%p 를 올렸습니다. 한국 스타일 사진 98장을 더하자 한국 사진 정확도가 67% 에서 77% 로 올랐습니다. 라벨 기준이 다른 데이터를 섞으면 오히려 떨어져서, 항목마다 효과를 재서 골라 썼습니다.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한계도 분명합니다. 메이크업은 67% 로 아직 약하고, 학습 사진이 서양 위주입니다. 라벨도 현장 전문가가 아직 검수하지 않았습니다. 그래서 현장 전문가가 결과를 채점하는 검수 도구를 만들어 두었습니다. 항목마다 맞음, 틀림을 누르고 정답을 고르면 그 결과로 바로 다시 학습할 수 있습니다. 다음 단계는 전문가 검수와 한국 사진을 늘려 다시 학습하는 것입니다.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감사합니다. QR 을 찍으시면 지금 바로 휴대폰에서 써 보실 수 있습니다. 질문 받겠습니다. (예상 질문과 답은 docs/PRESENTATION.md 에 있습니다: 제로샷이 뭔지, 직접 학습한 분류기, 정확도 75% 인 이유, 확률 보정, Transformers.js 사용 위치)</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 아래에는 이 스타일이 어떤 분께 잘 어울리는지도 추천합니다. 헤어는 얼굴형, 퍼스널 컬러, 어깨선, 체형, 모질, 추구미처럼 분야에 맞는 기준으로 보고, 메이크업은 눈매와 피부 유형, 네일은 손 모양, 타투는 피부 톤과 부위를 봅니다. 확신이 50% 이상인 특징만 근거로 쓰고, 카드마다 어떤 특징을 근거로 했는지 보여 줍니다. 사진 속 사람의 얼굴이나 체형을 판단하는 게 아니라, 스타일의 특징에 일반적인 스타일링 기준을 적용한 추천입니다.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새로 넣은 내 얼굴 분석입니다. 셀카 한 장을 올리면 MediaPipe 로 얼굴 랜드마크 478점과, 얼굴 피부 · 머리카락 · 목을 픽셀 단위로 나눈 마스크를 구해서 이마 · 광대 · 턱 너비와 삼정, 턱 모서리 각도를 잽니다. 이 비율을 평균과 비교해 6가지 얼굴형에 가까운 정도를 퍼센트로 보여 줍니다. 앞머리나 옆머리가 얼굴선을 가리면 재지 않고, 가린 곳을 붉게 칠해서 다시 찍어 달라고 합니다. 헤어를 고르면 맞는 커트와 앞머리를, 메이크업을 고르면 쉐딩 · 하이라이터 · 블러셔 위치를 제 얼굴 위에 그려 줍니다.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bg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77240" y="1600200"/>
            <a:ext cx="5394960" cy="2148840"/>
          </a:xfrm>
          <a:prstGeom prst="rect">
            <a:avLst/>
          </a:prstGeom>
          <a:noFill/>
          <a:ln/>
        </p:spPr>
        <p:txBody>
          <a:bodyPr wrap="square" rtlCol="0"/>
          <a:lstStyle>
            <a:lvl1pPr marL="0" indent="0" algn="l">
              <a:lnSpc>
                <a:spcPct val="100000"/>
              </a:lnSpc>
              <a:buNone/>
              <a:defRPr lang="en-US" sz="6000" b="1" dirty="0">
                <a:solidFill>
                  <a:schemeClr val="tx1"/>
                </a:solidFill>
              </a:defRPr>
            </a:lvl1pPr>
          </a:lstStyle>
          <a:p>
            <a:pPr marL="0" indent="0" algn="l">
              <a:lnSpc>
                <a:spcPct val="100000"/>
              </a:lnSpc>
              <a:buNone/>
            </a:pPr>
            <a:r>
              <a:rPr lang="en-US" sz="6000" b="1" dirty="0">
                <a:solidFill>
                  <a:schemeClr val="tx1"/>
                </a:solidFill>
              </a:rPr>
              <a:t>제목</a:t>
            </a: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77240" y="1874520"/>
            <a:ext cx="10637215" cy="1097280"/>
          </a:xfrm>
          <a:prstGeom prst="rect">
            <a:avLst/>
          </a:prstGeom>
          <a:noFill/>
          <a:ln/>
        </p:spPr>
        <p:txBody>
          <a:bodyPr wrap="square" rtlCol="0"/>
          <a:lstStyle>
            <a:lvl1pPr marL="0" indent="0" algn="l">
              <a:buNone/>
              <a:defRPr lang="en-US" sz="5400" b="1" dirty="0">
                <a:solidFill>
                  <a:schemeClr val="bg1"/>
                </a:solidFill>
              </a:defRPr>
            </a:lvl1pPr>
          </a:lstStyle>
          <a:p>
            <a:pPr marL="0" indent="0" algn="l">
              <a:buNone/>
            </a:pPr>
            <a:r>
              <a:rPr lang="en-US" sz="5400" b="1" dirty="0">
                <a:solidFill>
                  <a:schemeClr val="bg1"/>
                </a:solidFill>
              </a:rPr>
              <a:t>제목</a:t>
            </a:r>
            <a:endParaRPr lang="en-US" sz="5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a:effectLst/>
      </p:bgPr>
    </p:bg>
    <p:spTree>
      <p:nvGrpSpPr>
        <p:cNvPr id="1" name=""/>
        <p:cNvGrpSpPr/>
        <p:nvPr/>
      </p:nvGrpSpPr>
      <p:grpSpPr>
        <a:xfrm>
          <a:off x="0" y="0"/>
          <a:ext cx="0" cy="0"/>
          <a:chOff x="0" y="0"/>
          <a:chExt cx="0" cy="0"/>
        </a:xfrm>
      </p:grpSpPr>
      <p:sp>
        <p:nvSpPr>
          <p:cNvPr id="2" name="Text 0"/>
          <p:cNvSpPr/>
          <p:nvPr/>
        </p:nvSpPr>
        <p:spPr>
          <a:xfrm>
            <a:off x="777240" y="6355080"/>
            <a:ext cx="5486400" cy="274320"/>
          </a:xfrm>
          <a:prstGeom prst="rect">
            <a:avLst/>
          </a:prstGeom>
          <a:noFill/>
          <a:ln/>
        </p:spPr>
        <p:txBody>
          <a:bodyPr wrap="square" lIns="0" tIns="0" rIns="0" bIns="0" rtlCol="0" anchor="ctr"/>
          <a:lstStyle/>
          <a:p>
            <a:pPr marL="0" indent="0">
              <a:buNone/>
            </a:pPr>
            <a:r>
              <a:rPr lang="en-US" sz="1100" dirty="0">
                <a:solidFill>
                  <a:schemeClr val="accent4"/>
                </a:solidFill>
              </a:rPr>
              <a:t>뷰티 스타일 AI 분석</a:t>
            </a:r>
            <a:endParaRPr lang="en-US" sz="1100" dirty="0"/>
          </a:p>
        </p:txBody>
      </p:sp>
      <p:sp>
        <p:nvSpPr>
          <p:cNvPr id="3" name="Text 1"/>
          <p:cNvSpPr>
            <a:spLocks noGrp="1"/>
          </p:cNvSpPr>
          <p:nvPr>
            <p:ph type="title" idx="101" hasCustomPrompt="1"/>
          </p:nvPr>
        </p:nvSpPr>
        <p:spPr>
          <a:xfrm>
            <a:off x="777240" y="548640"/>
            <a:ext cx="10637215" cy="777240"/>
          </a:xfrm>
          <a:prstGeom prst="rect">
            <a:avLst/>
          </a:prstGeom>
          <a:noFill/>
          <a:ln/>
        </p:spPr>
        <p:txBody>
          <a:bodyPr wrap="square" rtlCol="0"/>
          <a:lstStyle>
            <a:lvl1pPr marL="0" indent="0" algn="l">
              <a:buNone/>
              <a:defRPr lang="en-US" sz="3600" b="1" dirty="0">
                <a:solidFill>
                  <a:schemeClr val="tx1"/>
                </a:solidFill>
              </a:defRPr>
            </a:lvl1pPr>
          </a:lstStyle>
          <a:p>
            <a:pPr marL="0" indent="0" algn="l">
              <a:buNone/>
            </a:pPr>
            <a:r>
              <a:rPr lang="en-US" sz="3600" b="1" dirty="0">
                <a:solidFill>
                  <a:schemeClr val="tx1"/>
                </a:solidFill>
              </a:rPr>
              <a:t>제목</a:t>
            </a:r>
            <a:endParaRPr lang="en-US" sz="3600" dirty="0"/>
          </a:p>
        </p:txBody>
      </p:sp>
      <p:sp>
        <p:nvSpPr>
          <p:cNvPr id="2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ALT">
    <p:bg>
      <p:bgPr>
        <a:solidFill>
          <a:schemeClr val="bg1"/>
        </a:solidFill>
        <a:effectLst/>
      </p:bgPr>
    </p:bg>
    <p:spTree>
      <p:nvGrpSpPr>
        <p:cNvPr id="1" name=""/>
        <p:cNvGrpSpPr/>
        <p:nvPr/>
      </p:nvGrpSpPr>
      <p:grpSpPr>
        <a:xfrm>
          <a:off x="0" y="0"/>
          <a:ext cx="0" cy="0"/>
          <a:chOff x="0" y="0"/>
          <a:chExt cx="0" cy="0"/>
        </a:xfrm>
      </p:grpSpPr>
      <p:sp>
        <p:nvSpPr>
          <p:cNvPr id="2" name="Text 0"/>
          <p:cNvSpPr/>
          <p:nvPr/>
        </p:nvSpPr>
        <p:spPr>
          <a:xfrm>
            <a:off x="777240" y="6355080"/>
            <a:ext cx="5486400" cy="274320"/>
          </a:xfrm>
          <a:prstGeom prst="rect">
            <a:avLst/>
          </a:prstGeom>
          <a:noFill/>
          <a:ln/>
        </p:spPr>
        <p:txBody>
          <a:bodyPr wrap="square" lIns="0" tIns="0" rIns="0" bIns="0" rtlCol="0" anchor="ctr"/>
          <a:lstStyle/>
          <a:p>
            <a:pPr marL="0" indent="0">
              <a:buNone/>
            </a:pPr>
            <a:r>
              <a:rPr lang="en-US" sz="1100" dirty="0">
                <a:solidFill>
                  <a:schemeClr val="accent4"/>
                </a:solidFill>
              </a:rPr>
              <a:t>뷰티 스타일 AI 분석</a:t>
            </a:r>
            <a:endParaRPr lang="en-US" sz="1100" dirty="0"/>
          </a:p>
        </p:txBody>
      </p:sp>
      <p:sp>
        <p:nvSpPr>
          <p:cNvPr id="3" name="Text 1"/>
          <p:cNvSpPr>
            <a:spLocks noGrp="1"/>
          </p:cNvSpPr>
          <p:nvPr>
            <p:ph type="title" idx="101" hasCustomPrompt="1"/>
          </p:nvPr>
        </p:nvSpPr>
        <p:spPr>
          <a:xfrm>
            <a:off x="777240" y="548640"/>
            <a:ext cx="10637215" cy="777240"/>
          </a:xfrm>
          <a:prstGeom prst="rect">
            <a:avLst/>
          </a:prstGeom>
          <a:noFill/>
          <a:ln/>
        </p:spPr>
        <p:txBody>
          <a:bodyPr wrap="square" rtlCol="0"/>
          <a:lstStyle>
            <a:lvl1pPr marL="0" indent="0" algn="l">
              <a:buNone/>
              <a:defRPr lang="en-US" sz="3600" b="1" dirty="0">
                <a:solidFill>
                  <a:schemeClr val="tx1"/>
                </a:solidFill>
              </a:defRPr>
            </a:lvl1pPr>
          </a:lstStyle>
          <a:p>
            <a:pPr marL="0" indent="0" algn="l">
              <a:buNone/>
            </a:pPr>
            <a:r>
              <a:rPr lang="en-US" sz="3600" b="1" dirty="0">
                <a:solidFill>
                  <a:schemeClr val="tx1"/>
                </a:solidFill>
              </a:rPr>
              <a:t>제목</a:t>
            </a:r>
            <a:endParaRPr lang="en-US" sz="3600" dirty="0"/>
          </a:p>
        </p:txBody>
      </p:sp>
      <p:sp>
        <p:nvSpPr>
          <p:cNvPr id="2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LOSING">
    <p:bg>
      <p:bgPr>
        <a:solidFill>
          <a:schemeClr val="bg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77240" y="1463040"/>
            <a:ext cx="6675120" cy="1097280"/>
          </a:xfrm>
          <a:prstGeom prst="rect">
            <a:avLst/>
          </a:prstGeom>
          <a:noFill/>
          <a:ln/>
        </p:spPr>
        <p:txBody>
          <a:bodyPr wrap="square" rtlCol="0"/>
          <a:lstStyle>
            <a:lvl1pPr marL="0" indent="0" algn="l">
              <a:buNone/>
              <a:defRPr lang="en-US" sz="6000" b="1" dirty="0">
                <a:solidFill>
                  <a:schemeClr val="tx1"/>
                </a:solidFill>
              </a:defRPr>
            </a:lvl1pPr>
          </a:lstStyle>
          <a:p>
            <a:pPr marL="0" indent="0" algn="l">
              <a:buNone/>
            </a:pPr>
            <a:r>
              <a:rPr lang="en-US" sz="6000" b="1" dirty="0">
                <a:solidFill>
                  <a:schemeClr val="tx1"/>
                </a:solidFill>
              </a:rPr>
              <a:t>제목</a:t>
            </a:r>
            <a:endParaRPr lang="en-US" sz="6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4" Type="http://schemas.openxmlformats.org/officeDocument/2006/relationships/image" Target="../media/image5.jp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5" Type="http://schemas.openxmlformats.org/officeDocument/2006/relationships/image" Target="../media/image6.jp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27539" y="2354580"/>
            <a:ext cx="5143500" cy="2148840"/>
          </a:xfrm>
          <a:prstGeom prst="rect">
            <a:avLst/>
          </a:prstGeom>
          <a:noFill/>
          <a:ln/>
        </p:spPr>
        <p:txBody>
          <a:bodyPr wrap="square" lIns="0" tIns="0" rIns="0" bIns="0" rtlCol="0" anchor="t"/>
          <a:lstStyle/>
          <a:p>
            <a:r>
              <a:rPr lang="ko-KR" altLang="en-US" sz="3600" b="1" dirty="0">
                <a:solidFill>
                  <a:schemeClr val="tx1"/>
                </a:solidFill>
                <a:latin typeface="Noto Sans KR Black" panose="020B0200000000000000" pitchFamily="50" charset="-127"/>
                <a:ea typeface="Noto Sans KR Black" panose="020B0200000000000000" pitchFamily="50" charset="-127"/>
              </a:rPr>
              <a:t>뷰티 스타일</a:t>
            </a:r>
            <a:r>
              <a:rPr lang="ko-KR" altLang="en-US" sz="3600" dirty="0">
                <a:latin typeface="Noto Sans KR Black" panose="020B0200000000000000" pitchFamily="50" charset="-127"/>
                <a:ea typeface="Noto Sans KR Black" panose="020B0200000000000000" pitchFamily="50" charset="-127"/>
              </a:rPr>
              <a:t> </a:t>
            </a:r>
            <a:r>
              <a:rPr lang="ko-KR" altLang="en-US" sz="3600" b="1" dirty="0">
                <a:solidFill>
                  <a:schemeClr val="tx1"/>
                </a:solidFill>
                <a:latin typeface="Noto Sans KR Black" panose="020B0200000000000000" pitchFamily="50" charset="-127"/>
                <a:ea typeface="Noto Sans KR Black" panose="020B0200000000000000" pitchFamily="50" charset="-127"/>
              </a:rPr>
              <a:t>AI 분석</a:t>
            </a:r>
            <a:br>
              <a:rPr lang="en-US" altLang="ko-KR" sz="3600" b="1" dirty="0">
                <a:solidFill>
                  <a:schemeClr val="tx1"/>
                </a:solidFill>
                <a:latin typeface="Noto Sans KR Black" panose="020B0200000000000000" pitchFamily="50" charset="-127"/>
                <a:ea typeface="Noto Sans KR Black" panose="020B0200000000000000" pitchFamily="50" charset="-127"/>
              </a:rPr>
            </a:br>
            <a:br>
              <a:rPr lang="en-US" altLang="ko-KR" sz="1200" b="1" dirty="0">
                <a:solidFill>
                  <a:schemeClr val="tx1"/>
                </a:solidFill>
                <a:latin typeface="Noto Sans KR Black" panose="020B0200000000000000" pitchFamily="50" charset="-127"/>
                <a:ea typeface="Noto Sans KR Black" panose="020B0200000000000000" pitchFamily="50" charset="-127"/>
              </a:rPr>
            </a:br>
            <a:r>
              <a:rPr lang="ko-KR" altLang="en-US" sz="1200" dirty="0">
                <a:solidFill>
                  <a:schemeClr val="accent4"/>
                </a:solidFill>
                <a:latin typeface="Noto Sans KR Black" panose="020B0200000000000000" pitchFamily="50" charset="-127"/>
                <a:ea typeface="Noto Sans KR Black" panose="020B0200000000000000" pitchFamily="50" charset="-127"/>
              </a:rPr>
              <a:t>인공지능 소프트웨어 / 오경민</a:t>
            </a:r>
            <a:br>
              <a:rPr lang="ko-KR" altLang="ko-KR" sz="3600" dirty="0"/>
            </a:br>
            <a:endParaRPr lang="ko-KR" sz="3600" dirty="0"/>
          </a:p>
        </p:txBody>
      </p:sp>
      <p:pic>
        <p:nvPicPr>
          <p:cNvPr id="5" name="shot-3" descr="뷰티 스타일 AI 분석 화면: 긴 머리 사진 옆에 레이어드컷 + S컬펌 장르와 설명이 나온 모습"/>
          <p:cNvPicPr>
            <a:picLocks noChangeAspect="1"/>
          </p:cNvPicPr>
          <p:nvPr/>
        </p:nvPicPr>
        <p:blipFill>
          <a:blip r:embed="rId3"/>
          <a:stretch>
            <a:fillRect/>
          </a:stretch>
        </p:blipFill>
        <p:spPr>
          <a:xfrm>
            <a:off x="4747846" y="624253"/>
            <a:ext cx="7444154" cy="57941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777240" y="1874520"/>
            <a:ext cx="10637215" cy="1097280"/>
          </a:xfrm>
          <a:prstGeom prst="rect">
            <a:avLst/>
          </a:prstGeom>
          <a:noFill/>
          <a:ln/>
        </p:spPr>
        <p:txBody>
          <a:bodyPr wrap="square" lIns="0" tIns="0" rIns="0" bIns="0" rtlCol="0" anchor="t"/>
          <a:lstStyle/>
          <a:p>
            <a:pPr marL="0" indent="0" algn="l">
              <a:buNone/>
            </a:pPr>
            <a:r>
              <a:rPr lang="ko-KR" altLang="en-US" sz="5400" b="1" dirty="0">
                <a:latin typeface="Noto Sans KR Black" panose="020B0200000000000000" pitchFamily="50" charset="-127"/>
                <a:ea typeface="Noto Sans KR Black" panose="020B0200000000000000" pitchFamily="50" charset="-127"/>
              </a:rPr>
              <a:t>이 머리, 뭐라고 부르죠?</a:t>
            </a:r>
            <a:endParaRPr lang="ko-KR" sz="5400" dirty="0">
              <a:latin typeface="Noto Sans KR Black" panose="020B0200000000000000" pitchFamily="50" charset="-127"/>
              <a:ea typeface="Noto Sans KR Black" panose="020B0200000000000000" pitchFamily="50" charset="-127"/>
            </a:endParaRPr>
          </a:p>
        </p:txBody>
      </p:sp>
      <p:sp>
        <p:nvSpPr>
          <p:cNvPr id="4" name="text-6"/>
          <p:cNvSpPr txBox="1"/>
          <p:nvPr/>
        </p:nvSpPr>
        <p:spPr>
          <a:xfrm>
            <a:off x="777240" y="3200400"/>
            <a:ext cx="10058400" cy="1097280"/>
          </a:xfrm>
          <a:prstGeom prst="rect">
            <a:avLst/>
          </a:prstGeom>
          <a:noFill/>
          <a:ln/>
        </p:spPr>
        <p:txBody>
          <a:bodyPr wrap="square" lIns="0" tIns="0" rIns="0" bIns="0" rtlCol="0" anchor="t"/>
          <a:lstStyle/>
          <a:p>
            <a:pPr marL="0" indent="0">
              <a:lnSpc>
                <a:spcPct val="125000"/>
              </a:lnSpc>
              <a:buNone/>
            </a:pPr>
            <a:r>
              <a:rPr lang="ko-KR" altLang="en-US" sz="2000" dirty="0">
                <a:solidFill>
                  <a:schemeClr val="bg1"/>
                </a:solidFill>
                <a:latin typeface="Noto Sans KR Black" panose="020B0200000000000000" pitchFamily="50" charset="-127"/>
                <a:ea typeface="Noto Sans KR Black" panose="020B0200000000000000" pitchFamily="50" charset="-127"/>
              </a:rPr>
              <a:t>허쉬컷일까 레이어드컷일까, 자석 네일일까 크롬 네일일까. </a:t>
            </a:r>
            <a:endParaRPr lang="en-US" altLang="ko-KR" sz="2000" dirty="0">
              <a:solidFill>
                <a:schemeClr val="bg1"/>
              </a:solidFill>
              <a:latin typeface="Noto Sans KR Black" panose="020B0200000000000000" pitchFamily="50" charset="-127"/>
              <a:ea typeface="Noto Sans KR Black" panose="020B0200000000000000" pitchFamily="50" charset="-127"/>
            </a:endParaRPr>
          </a:p>
          <a:p>
            <a:pPr marL="0" indent="0">
              <a:lnSpc>
                <a:spcPct val="125000"/>
              </a:lnSpc>
              <a:buNone/>
            </a:pPr>
            <a:r>
              <a:rPr lang="ko-KR" altLang="en-US" sz="2000" dirty="0">
                <a:solidFill>
                  <a:schemeClr val="bg1"/>
                </a:solidFill>
                <a:latin typeface="Noto Sans KR Black" panose="020B0200000000000000" pitchFamily="50" charset="-127"/>
                <a:ea typeface="Noto Sans KR Black" panose="020B0200000000000000" pitchFamily="50" charset="-127"/>
              </a:rPr>
              <a:t>이름을 모르면 검색도, 미용실에서 설명하기도 어렵습니다.</a:t>
            </a:r>
            <a:endParaRPr lang="ko-KR" sz="2000" dirty="0">
              <a:latin typeface="Noto Sans KR Black" panose="020B0200000000000000" pitchFamily="50" charset="-127"/>
              <a:ea typeface="Noto Sans KR Black" panose="020B0200000000000000" pitchFamily="50" charset="-127"/>
            </a:endParaRPr>
          </a:p>
        </p:txBody>
      </p:sp>
      <p:sp>
        <p:nvSpPr>
          <p:cNvPr id="5" name="text-7"/>
          <p:cNvSpPr txBox="1"/>
          <p:nvPr/>
        </p:nvSpPr>
        <p:spPr>
          <a:xfrm>
            <a:off x="777240" y="4572000"/>
            <a:ext cx="10637215" cy="548640"/>
          </a:xfrm>
          <a:prstGeom prst="rect">
            <a:avLst/>
          </a:prstGeom>
          <a:noFill/>
          <a:ln/>
        </p:spPr>
        <p:txBody>
          <a:bodyPr wrap="square" lIns="0" tIns="0" rIns="0" bIns="0" rtlCol="0" anchor="t"/>
          <a:lstStyle/>
          <a:p>
            <a:pPr marL="0" indent="0">
              <a:buNone/>
            </a:pPr>
            <a:r>
              <a:rPr lang="ko-KR" altLang="en-US" sz="2200" b="1" dirty="0">
                <a:solidFill>
                  <a:schemeClr val="bg1"/>
                </a:solidFill>
                <a:latin typeface="Noto Sans KR Black" panose="020B0200000000000000" pitchFamily="50" charset="-127"/>
                <a:ea typeface="Noto Sans KR Black" panose="020B0200000000000000" pitchFamily="50" charset="-127"/>
              </a:rPr>
              <a:t>사진 한 장 → 한국어 이름과 문장으로 설명하는 AI</a:t>
            </a:r>
            <a:endParaRPr lang="ko-KR" sz="2200" dirty="0">
              <a:latin typeface="Noto Sans KR Black" panose="020B0200000000000000" pitchFamily="50" charset="-127"/>
              <a:ea typeface="Noto Sans KR Black" panose="020B0200000000000000" pitchFamily="50" charset="-127"/>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548640"/>
            <a:ext cx="10637215" cy="777240"/>
          </a:xfrm>
          <a:prstGeom prst="rect">
            <a:avLst/>
          </a:prstGeom>
          <a:noFill/>
          <a:ln/>
        </p:spPr>
        <p:txBody>
          <a:bodyPr wrap="square" lIns="0" tIns="0" rIns="0" bIns="0" rtlCol="0" anchor="t"/>
          <a:lstStyle/>
          <a:p>
            <a:pPr marL="0" indent="0" algn="l">
              <a:buNone/>
            </a:pPr>
            <a:r>
              <a:rPr lang="ko-KR" altLang="en-US" sz="3600" b="1" dirty="0">
                <a:solidFill>
                  <a:schemeClr val="tx1"/>
                </a:solidFill>
                <a:latin typeface="Noto Sans KR Black" panose="020B0200000000000000" pitchFamily="50" charset="-127"/>
                <a:ea typeface="Noto Sans KR Black" panose="020B0200000000000000" pitchFamily="50" charset="-127"/>
              </a:rPr>
              <a:t>시연: 직접 써 보세요</a:t>
            </a:r>
            <a:endParaRPr lang="ko-KR" sz="3600" dirty="0">
              <a:latin typeface="Noto Sans KR Black" panose="020B0200000000000000" pitchFamily="50" charset="-127"/>
              <a:ea typeface="Noto Sans KR Black" panose="020B0200000000000000" pitchFamily="50" charset="-127"/>
            </a:endParaRPr>
          </a:p>
        </p:txBody>
      </p:sp>
      <p:sp>
        <p:nvSpPr>
          <p:cNvPr id="3" name="text-8"/>
          <p:cNvSpPr txBox="1"/>
          <p:nvPr/>
        </p:nvSpPr>
        <p:spPr>
          <a:xfrm>
            <a:off x="777240" y="2451847"/>
            <a:ext cx="6400800" cy="1005840"/>
          </a:xfrm>
          <a:prstGeom prst="rect">
            <a:avLst/>
          </a:prstGeom>
          <a:noFill/>
          <a:ln/>
        </p:spPr>
        <p:txBody>
          <a:bodyPr wrap="square" lIns="0" tIns="0" rIns="0" bIns="0" rtlCol="0" anchor="t"/>
          <a:lstStyle/>
          <a:p>
            <a:pPr marL="0" indent="0">
              <a:lnSpc>
                <a:spcPct val="125000"/>
              </a:lnSpc>
              <a:buNone/>
            </a:pPr>
            <a:r>
              <a:rPr lang="ko-KR" altLang="en-US" sz="1800" dirty="0">
                <a:solidFill>
                  <a:schemeClr val="tx2"/>
                </a:solidFill>
                <a:latin typeface="Noto Sans KR Black" panose="020B0200000000000000" pitchFamily="50" charset="-127"/>
                <a:ea typeface="Noto Sans KR Black" panose="020B0200000000000000" pitchFamily="50" charset="-127"/>
              </a:rPr>
              <a:t>휴대폰 카메라로 QR 을 찍으면 바로 열립니다. </a:t>
            </a:r>
            <a:endParaRPr lang="en-US" altLang="ko-KR" sz="1800" dirty="0">
              <a:solidFill>
                <a:schemeClr val="tx2"/>
              </a:solidFill>
              <a:latin typeface="Noto Sans KR Black" panose="020B0200000000000000" pitchFamily="50" charset="-127"/>
              <a:ea typeface="Noto Sans KR Black" panose="020B0200000000000000" pitchFamily="50" charset="-127"/>
            </a:endParaRPr>
          </a:p>
        </p:txBody>
      </p:sp>
      <p:sp>
        <p:nvSpPr>
          <p:cNvPr id="4" name="card-9"/>
          <p:cNvSpPr/>
          <p:nvPr/>
        </p:nvSpPr>
        <p:spPr>
          <a:xfrm>
            <a:off x="777240" y="3154680"/>
            <a:ext cx="6400800" cy="640080"/>
          </a:xfrm>
          <a:prstGeom prst="roundRect">
            <a:avLst>
              <a:gd name="adj" fmla="val 17143"/>
            </a:avLst>
          </a:prstGeom>
          <a:solidFill>
            <a:schemeClr val="bg2"/>
          </a:solidFill>
          <a:ln w="9525">
            <a:solidFill>
              <a:schemeClr val="accent5"/>
            </a:solidFill>
            <a:prstDash val="solid"/>
          </a:ln>
        </p:spPr>
      </p:sp>
      <p:sp>
        <p:nvSpPr>
          <p:cNvPr id="5" name="text-10"/>
          <p:cNvSpPr txBox="1"/>
          <p:nvPr/>
        </p:nvSpPr>
        <p:spPr>
          <a:xfrm>
            <a:off x="1051560" y="3154680"/>
            <a:ext cx="5943600" cy="640080"/>
          </a:xfrm>
          <a:prstGeom prst="rect">
            <a:avLst/>
          </a:prstGeom>
          <a:noFill/>
          <a:ln/>
        </p:spPr>
        <p:txBody>
          <a:bodyPr wrap="square" lIns="0" tIns="0" rIns="0" bIns="0" rtlCol="0" anchor="ctr"/>
          <a:lstStyle/>
          <a:p>
            <a:pPr marL="0" indent="0">
              <a:buNone/>
            </a:pPr>
            <a:r>
              <a:rPr lang="ko-KR" altLang="en-US" sz="1400" dirty="0">
                <a:solidFill>
                  <a:schemeClr val="tx1"/>
                </a:solidFill>
              </a:rPr>
              <a:t>huggingface.co/spaces/kyoungminOh/beauty-style-ai</a:t>
            </a:r>
            <a:endParaRPr lang="ko-KR" sz="1400" dirty="0"/>
          </a:p>
        </p:txBody>
      </p:sp>
      <p:sp>
        <p:nvSpPr>
          <p:cNvPr id="6" name="text-11"/>
          <p:cNvSpPr txBox="1"/>
          <p:nvPr/>
        </p:nvSpPr>
        <p:spPr>
          <a:xfrm>
            <a:off x="777240" y="4069080"/>
            <a:ext cx="6400800" cy="365760"/>
          </a:xfrm>
          <a:prstGeom prst="rect">
            <a:avLst/>
          </a:prstGeom>
          <a:noFill/>
          <a:ln/>
        </p:spPr>
        <p:txBody>
          <a:bodyPr wrap="square" lIns="0" tIns="0" rIns="0" bIns="0" rtlCol="0" anchor="t"/>
          <a:lstStyle/>
          <a:p>
            <a:pPr marL="0" indent="0">
              <a:buNone/>
            </a:pPr>
            <a:r>
              <a:rPr lang="ko-KR" altLang="en-US" sz="1400" dirty="0">
                <a:solidFill>
                  <a:schemeClr val="accent4"/>
                </a:solidFill>
                <a:latin typeface="Noto Sans KR Black" panose="020B0200000000000000" pitchFamily="50" charset="-127"/>
                <a:ea typeface="Noto Sans KR Black" panose="020B0200000000000000" pitchFamily="50" charset="-127"/>
              </a:rPr>
              <a:t>예시 사진 100장 · 내 사진 올리기 · 휴대폰으로 바로 찍기</a:t>
            </a:r>
            <a:endParaRPr lang="ko-KR" sz="1400" dirty="0">
              <a:latin typeface="Noto Sans KR Black" panose="020B0200000000000000" pitchFamily="50" charset="-127"/>
              <a:ea typeface="Noto Sans KR Black" panose="020B0200000000000000" pitchFamily="50" charset="-127"/>
            </a:endParaRPr>
          </a:p>
        </p:txBody>
      </p:sp>
      <p:sp>
        <p:nvSpPr>
          <p:cNvPr id="7" name="card-12"/>
          <p:cNvSpPr/>
          <p:nvPr/>
        </p:nvSpPr>
        <p:spPr>
          <a:xfrm>
            <a:off x="8001000" y="1600200"/>
            <a:ext cx="3410712" cy="3977640"/>
          </a:xfrm>
          <a:prstGeom prst="roundRect">
            <a:avLst>
              <a:gd name="adj" fmla="val 3217"/>
            </a:avLst>
          </a:prstGeom>
          <a:solidFill>
            <a:schemeClr val="bg1"/>
          </a:solidFill>
          <a:ln w="9525">
            <a:solidFill>
              <a:schemeClr val="accent5"/>
            </a:solidFill>
            <a:prstDash val="solid"/>
          </a:ln>
        </p:spPr>
      </p:sp>
      <p:pic>
        <p:nvPicPr>
          <p:cNvPr id="8" name="qr-13" descr="데모 사이트 QR 코드"/>
          <p:cNvPicPr>
            <a:picLocks noChangeAspect="1"/>
          </p:cNvPicPr>
          <p:nvPr/>
        </p:nvPicPr>
        <p:blipFill>
          <a:blip r:embed="rId3"/>
          <a:stretch>
            <a:fillRect/>
          </a:stretch>
        </p:blipFill>
        <p:spPr>
          <a:xfrm>
            <a:off x="8284464" y="1828800"/>
            <a:ext cx="2834640" cy="2834640"/>
          </a:xfrm>
          <a:prstGeom prst="rect">
            <a:avLst/>
          </a:prstGeom>
        </p:spPr>
      </p:pic>
      <p:sp>
        <p:nvSpPr>
          <p:cNvPr id="9" name="text-14"/>
          <p:cNvSpPr txBox="1"/>
          <p:nvPr/>
        </p:nvSpPr>
        <p:spPr>
          <a:xfrm>
            <a:off x="8001000" y="4846320"/>
            <a:ext cx="3410712" cy="365760"/>
          </a:xfrm>
          <a:prstGeom prst="rect">
            <a:avLst/>
          </a:prstGeom>
          <a:noFill/>
          <a:ln/>
        </p:spPr>
        <p:txBody>
          <a:bodyPr wrap="square" lIns="0" tIns="0" rIns="0" bIns="0" rtlCol="0" anchor="t"/>
          <a:lstStyle/>
          <a:p>
            <a:pPr marL="0" indent="0" algn="ctr">
              <a:buNone/>
            </a:pPr>
            <a:r>
              <a:rPr lang="ko-KR" altLang="en-US" sz="1200" dirty="0">
                <a:solidFill>
                  <a:schemeClr val="accent4"/>
                </a:solidFill>
              </a:rPr>
              <a:t>QR 을 찍어 열기</a:t>
            </a:r>
            <a:endParaRPr lang="ko-KR" sz="1200" dirty="0"/>
          </a:p>
        </p:txBody>
      </p:sp>
      <p:sp>
        <p:nvSpPr>
          <p:cNvPr id="2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548640"/>
            <a:ext cx="10637215" cy="777240"/>
          </a:xfrm>
          <a:prstGeom prst="rect">
            <a:avLst/>
          </a:prstGeom>
          <a:noFill/>
          <a:ln/>
        </p:spPr>
        <p:txBody>
          <a:bodyPr wrap="square" lIns="0" tIns="0" rIns="0" bIns="0" rtlCol="0" anchor="t"/>
          <a:lstStyle/>
          <a:p>
            <a:pPr marL="0" indent="0" algn="l">
              <a:buNone/>
            </a:pPr>
            <a:r>
              <a:rPr lang="ko-KR" altLang="en-US" sz="3600" b="1" dirty="0">
                <a:solidFill>
                  <a:schemeClr val="tx1"/>
                </a:solidFill>
                <a:latin typeface="Noto Sans KR Black" panose="020B0200000000000000" pitchFamily="50" charset="-127"/>
                <a:ea typeface="Noto Sans KR Black" panose="020B0200000000000000" pitchFamily="50" charset="-127"/>
              </a:rPr>
              <a:t>사진 한 장 → 일곱 가지 결과</a:t>
            </a:r>
            <a:endParaRPr lang="ko-KR" sz="3600" dirty="0">
              <a:latin typeface="Noto Sans KR Black" panose="020B0200000000000000" pitchFamily="50" charset="-127"/>
              <a:ea typeface="Noto Sans KR Black" panose="020B0200000000000000" pitchFamily="50" charset="-127"/>
            </a:endParaRPr>
          </a:p>
        </p:txBody>
      </p:sp>
      <p:pic>
        <p:nvPicPr>
          <p:cNvPr id="3" name="shot-15" descr="분석 결과 화면: 장르 카드, 트렌드 키워드, 설명 문장, 사진 속 색, 시술 요청서"/>
          <p:cNvPicPr>
            <a:picLocks noChangeAspect="1"/>
          </p:cNvPicPr>
          <p:nvPr/>
        </p:nvPicPr>
        <p:blipFill>
          <a:blip r:embed="rId3"/>
          <a:stretch>
            <a:fillRect/>
          </a:stretch>
        </p:blipFill>
        <p:spPr>
          <a:xfrm>
            <a:off x="777240" y="1600200"/>
            <a:ext cx="6309360" cy="3943350"/>
          </a:xfrm>
          <a:prstGeom prst="rect">
            <a:avLst/>
          </a:prstGeom>
        </p:spPr>
      </p:pic>
      <p:sp>
        <p:nvSpPr>
          <p:cNvPr id="4" name="frame-16"/>
          <p:cNvSpPr/>
          <p:nvPr/>
        </p:nvSpPr>
        <p:spPr>
          <a:xfrm>
            <a:off x="777240" y="1600200"/>
            <a:ext cx="6309360" cy="3943350"/>
          </a:xfrm>
          <a:prstGeom prst="rect">
            <a:avLst/>
          </a:prstGeom>
          <a:ln w="9525">
            <a:solidFill>
              <a:schemeClr val="accent5"/>
            </a:solidFill>
            <a:prstDash val="solid"/>
          </a:ln>
        </p:spPr>
      </p:sp>
      <p:sp>
        <p:nvSpPr>
          <p:cNvPr id="5" name="text-17"/>
          <p:cNvSpPr txBox="1"/>
          <p:nvPr/>
        </p:nvSpPr>
        <p:spPr>
          <a:xfrm>
            <a:off x="7406640" y="1600200"/>
            <a:ext cx="4005072" cy="292608"/>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장르 · 트렌드 키워드</a:t>
            </a:r>
            <a:endParaRPr lang="ko-KR" sz="1600" dirty="0">
              <a:latin typeface="Noto Sans KR Black" panose="020B0200000000000000" pitchFamily="50" charset="-127"/>
              <a:ea typeface="Noto Sans KR Black" panose="020B0200000000000000" pitchFamily="50" charset="-127"/>
            </a:endParaRPr>
          </a:p>
        </p:txBody>
      </p:sp>
      <p:sp>
        <p:nvSpPr>
          <p:cNvPr id="6" name="text-18"/>
          <p:cNvSpPr txBox="1"/>
          <p:nvPr/>
        </p:nvSpPr>
        <p:spPr>
          <a:xfrm>
            <a:off x="7406640" y="1883664"/>
            <a:ext cx="4005072" cy="274320"/>
          </a:xfrm>
          <a:prstGeom prst="rect">
            <a:avLst/>
          </a:prstGeom>
          <a:noFill/>
          <a:ln/>
        </p:spPr>
        <p:txBody>
          <a:bodyPr wrap="square" lIns="0" tIns="0" rIns="0" bIns="0" rtlCol="0" anchor="t"/>
          <a:lstStyle/>
          <a:p>
            <a:pPr marL="0" indent="0">
              <a:buNone/>
            </a:pPr>
            <a:r>
              <a:rPr lang="ko-KR" altLang="en-US" sz="1300" dirty="0">
                <a:solidFill>
                  <a:schemeClr val="tx2"/>
                </a:solidFill>
                <a:latin typeface="Noto Sans KR Black" panose="020B0200000000000000" pitchFamily="50" charset="-127"/>
                <a:ea typeface="Noto Sans KR Black" panose="020B0200000000000000" pitchFamily="50" charset="-127"/>
              </a:rPr>
              <a:t>레이어드컷 + S컬펌 · #레이어드펌</a:t>
            </a:r>
            <a:endParaRPr lang="ko-KR" sz="1300" dirty="0">
              <a:latin typeface="Noto Sans KR Black" panose="020B0200000000000000" pitchFamily="50" charset="-127"/>
              <a:ea typeface="Noto Sans KR Black" panose="020B0200000000000000" pitchFamily="50" charset="-127"/>
            </a:endParaRPr>
          </a:p>
        </p:txBody>
      </p:sp>
      <p:sp>
        <p:nvSpPr>
          <p:cNvPr id="7" name="rule-19"/>
          <p:cNvSpPr/>
          <p:nvPr/>
        </p:nvSpPr>
        <p:spPr>
          <a:xfrm>
            <a:off x="7406640" y="2176272"/>
            <a:ext cx="4005072" cy="0"/>
          </a:xfrm>
          <a:prstGeom prst="line">
            <a:avLst/>
          </a:prstGeom>
          <a:noFill/>
          <a:ln w="9525">
            <a:solidFill>
              <a:schemeClr val="accent5"/>
            </a:solidFill>
            <a:prstDash val="solid"/>
          </a:ln>
        </p:spPr>
      </p:sp>
      <p:sp>
        <p:nvSpPr>
          <p:cNvPr id="8" name="text-20"/>
          <p:cNvSpPr txBox="1"/>
          <p:nvPr/>
        </p:nvSpPr>
        <p:spPr>
          <a:xfrm>
            <a:off x="7406640" y="2203704"/>
            <a:ext cx="4005072" cy="292608"/>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설명 문장</a:t>
            </a:r>
            <a:endParaRPr lang="ko-KR" sz="1600" dirty="0">
              <a:latin typeface="Noto Sans KR Black" panose="020B0200000000000000" pitchFamily="50" charset="-127"/>
              <a:ea typeface="Noto Sans KR Black" panose="020B0200000000000000" pitchFamily="50" charset="-127"/>
            </a:endParaRPr>
          </a:p>
        </p:txBody>
      </p:sp>
      <p:sp>
        <p:nvSpPr>
          <p:cNvPr id="9" name="text-21"/>
          <p:cNvSpPr txBox="1"/>
          <p:nvPr/>
        </p:nvSpPr>
        <p:spPr>
          <a:xfrm>
            <a:off x="7406640" y="2487168"/>
            <a:ext cx="4005072" cy="274320"/>
          </a:xfrm>
          <a:prstGeom prst="rect">
            <a:avLst/>
          </a:prstGeom>
          <a:noFill/>
          <a:ln/>
        </p:spPr>
        <p:txBody>
          <a:bodyPr wrap="square" lIns="0" tIns="0" rIns="0" bIns="0" rtlCol="0" anchor="t"/>
          <a:lstStyle/>
          <a:p>
            <a:pPr marL="0" indent="0">
              <a:buNone/>
            </a:pPr>
            <a:r>
              <a:rPr lang="ko-KR" altLang="en-US" sz="1300" dirty="0">
                <a:solidFill>
                  <a:schemeClr val="tx2"/>
                </a:solidFill>
                <a:latin typeface="Noto Sans KR Black" panose="020B0200000000000000" pitchFamily="50" charset="-127"/>
                <a:ea typeface="Noto Sans KR Black" panose="020B0200000000000000" pitchFamily="50" charset="-127"/>
              </a:rPr>
              <a:t>확신 정도에 따라 말투가 달라짐</a:t>
            </a:r>
            <a:endParaRPr lang="ko-KR" sz="1300" dirty="0">
              <a:latin typeface="Noto Sans KR Black" panose="020B0200000000000000" pitchFamily="50" charset="-127"/>
              <a:ea typeface="Noto Sans KR Black" panose="020B0200000000000000" pitchFamily="50" charset="-127"/>
            </a:endParaRPr>
          </a:p>
        </p:txBody>
      </p:sp>
      <p:sp>
        <p:nvSpPr>
          <p:cNvPr id="10" name="rule-22"/>
          <p:cNvSpPr/>
          <p:nvPr/>
        </p:nvSpPr>
        <p:spPr>
          <a:xfrm>
            <a:off x="7406640" y="2779776"/>
            <a:ext cx="4005072" cy="0"/>
          </a:xfrm>
          <a:prstGeom prst="line">
            <a:avLst/>
          </a:prstGeom>
          <a:noFill/>
          <a:ln w="9525">
            <a:solidFill>
              <a:schemeClr val="accent5"/>
            </a:solidFill>
            <a:prstDash val="solid"/>
          </a:ln>
        </p:spPr>
      </p:sp>
      <p:sp>
        <p:nvSpPr>
          <p:cNvPr id="11" name="text-23"/>
          <p:cNvSpPr txBox="1"/>
          <p:nvPr/>
        </p:nvSpPr>
        <p:spPr>
          <a:xfrm>
            <a:off x="7406640" y="2807208"/>
            <a:ext cx="4005072" cy="292608"/>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사진 속 색</a:t>
            </a:r>
            <a:endParaRPr lang="ko-KR" sz="1600" dirty="0">
              <a:latin typeface="Noto Sans KR Black" panose="020B0200000000000000" pitchFamily="50" charset="-127"/>
              <a:ea typeface="Noto Sans KR Black" panose="020B0200000000000000" pitchFamily="50" charset="-127"/>
            </a:endParaRPr>
          </a:p>
        </p:txBody>
      </p:sp>
      <p:sp>
        <p:nvSpPr>
          <p:cNvPr id="12" name="text-24"/>
          <p:cNvSpPr txBox="1"/>
          <p:nvPr/>
        </p:nvSpPr>
        <p:spPr>
          <a:xfrm>
            <a:off x="7406640" y="3090672"/>
            <a:ext cx="4005072" cy="274320"/>
          </a:xfrm>
          <a:prstGeom prst="rect">
            <a:avLst/>
          </a:prstGeom>
          <a:noFill/>
          <a:ln/>
        </p:spPr>
        <p:txBody>
          <a:bodyPr wrap="square" lIns="0" tIns="0" rIns="0" bIns="0" rtlCol="0" anchor="t"/>
          <a:lstStyle/>
          <a:p>
            <a:pPr marL="0" indent="0">
              <a:buNone/>
            </a:pPr>
            <a:r>
              <a:rPr lang="ko-KR" altLang="en-US" sz="1300" dirty="0">
                <a:solidFill>
                  <a:schemeClr val="tx2"/>
                </a:solidFill>
                <a:latin typeface="Noto Sans KR Black" panose="020B0200000000000000" pitchFamily="50" charset="-127"/>
                <a:ea typeface="Noto Sans KR Black" panose="020B0200000000000000" pitchFamily="50" charset="-127"/>
              </a:rPr>
              <a:t>머리카락만 골라 실제 색 · 약 3레벨</a:t>
            </a:r>
            <a:endParaRPr lang="ko-KR" sz="1300" dirty="0">
              <a:latin typeface="Noto Sans KR Black" panose="020B0200000000000000" pitchFamily="50" charset="-127"/>
              <a:ea typeface="Noto Sans KR Black" panose="020B0200000000000000" pitchFamily="50" charset="-127"/>
            </a:endParaRPr>
          </a:p>
        </p:txBody>
      </p:sp>
      <p:sp>
        <p:nvSpPr>
          <p:cNvPr id="13" name="rule-25"/>
          <p:cNvSpPr/>
          <p:nvPr/>
        </p:nvSpPr>
        <p:spPr>
          <a:xfrm>
            <a:off x="7406640" y="3383280"/>
            <a:ext cx="4005072" cy="0"/>
          </a:xfrm>
          <a:prstGeom prst="line">
            <a:avLst/>
          </a:prstGeom>
          <a:noFill/>
          <a:ln w="9525">
            <a:solidFill>
              <a:schemeClr val="accent5"/>
            </a:solidFill>
            <a:prstDash val="solid"/>
          </a:ln>
        </p:spPr>
      </p:sp>
      <p:sp>
        <p:nvSpPr>
          <p:cNvPr id="14" name="text-26"/>
          <p:cNvSpPr txBox="1"/>
          <p:nvPr/>
        </p:nvSpPr>
        <p:spPr>
          <a:xfrm>
            <a:off x="7406640" y="3410712"/>
            <a:ext cx="4005072" cy="292608"/>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시술 요청서</a:t>
            </a:r>
            <a:endParaRPr lang="ko-KR" sz="1600" dirty="0">
              <a:latin typeface="Noto Sans KR Black" panose="020B0200000000000000" pitchFamily="50" charset="-127"/>
              <a:ea typeface="Noto Sans KR Black" panose="020B0200000000000000" pitchFamily="50" charset="-127"/>
            </a:endParaRPr>
          </a:p>
        </p:txBody>
      </p:sp>
      <p:sp>
        <p:nvSpPr>
          <p:cNvPr id="15" name="text-27"/>
          <p:cNvSpPr txBox="1"/>
          <p:nvPr/>
        </p:nvSpPr>
        <p:spPr>
          <a:xfrm>
            <a:off x="7406640" y="3694176"/>
            <a:ext cx="4005072" cy="274320"/>
          </a:xfrm>
          <a:prstGeom prst="rect">
            <a:avLst/>
          </a:prstGeom>
          <a:noFill/>
          <a:ln/>
        </p:spPr>
        <p:txBody>
          <a:bodyPr wrap="square" lIns="0" tIns="0" rIns="0" bIns="0" rtlCol="0" anchor="t"/>
          <a:lstStyle/>
          <a:p>
            <a:pPr marL="0" indent="0">
              <a:buNone/>
            </a:pPr>
            <a:r>
              <a:rPr lang="ko-KR" altLang="en-US" sz="1300" dirty="0">
                <a:solidFill>
                  <a:schemeClr val="tx2"/>
                </a:solidFill>
                <a:latin typeface="Noto Sans KR Black" panose="020B0200000000000000" pitchFamily="50" charset="-127"/>
                <a:ea typeface="Noto Sans KR Black" panose="020B0200000000000000" pitchFamily="50" charset="-127"/>
              </a:rPr>
              <a:t>매장에 보여 줄 요약 · 이미지 저장</a:t>
            </a:r>
            <a:endParaRPr lang="ko-KR" sz="1300" dirty="0">
              <a:latin typeface="Noto Sans KR Black" panose="020B0200000000000000" pitchFamily="50" charset="-127"/>
              <a:ea typeface="Noto Sans KR Black" panose="020B0200000000000000" pitchFamily="50" charset="-127"/>
            </a:endParaRPr>
          </a:p>
        </p:txBody>
      </p:sp>
      <p:sp>
        <p:nvSpPr>
          <p:cNvPr id="16" name="rule-28"/>
          <p:cNvSpPr/>
          <p:nvPr/>
        </p:nvSpPr>
        <p:spPr>
          <a:xfrm>
            <a:off x="7406640" y="3986784"/>
            <a:ext cx="4005072" cy="0"/>
          </a:xfrm>
          <a:prstGeom prst="line">
            <a:avLst/>
          </a:prstGeom>
          <a:noFill/>
          <a:ln w="9525">
            <a:solidFill>
              <a:schemeClr val="accent5"/>
            </a:solidFill>
            <a:prstDash val="solid"/>
          </a:ln>
        </p:spPr>
      </p:sp>
      <p:sp>
        <p:nvSpPr>
          <p:cNvPr id="26" name="text-34"/>
          <p:cNvSpPr txBox="1"/>
          <p:nvPr/>
        </p:nvSpPr>
        <p:spPr>
          <a:xfrm>
            <a:off x="7406640" y="4014216"/>
            <a:ext cx="4005072" cy="292608"/>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이런 분께 잘 어울려요</a:t>
            </a:r>
            <a:endParaRPr lang="ko-KR" sz="1600" dirty="0">
              <a:latin typeface="Noto Sans KR Black" panose="020B0200000000000000" pitchFamily="50" charset="-127"/>
              <a:ea typeface="Noto Sans KR Black" panose="020B0200000000000000" pitchFamily="50" charset="-127"/>
            </a:endParaRPr>
          </a:p>
        </p:txBody>
      </p:sp>
      <p:sp>
        <p:nvSpPr>
          <p:cNvPr id="27" name="text-35"/>
          <p:cNvSpPr txBox="1"/>
          <p:nvPr/>
        </p:nvSpPr>
        <p:spPr>
          <a:xfrm>
            <a:off x="7406640" y="4297680"/>
            <a:ext cx="4005072" cy="274320"/>
          </a:xfrm>
          <a:prstGeom prst="rect">
            <a:avLst/>
          </a:prstGeom>
          <a:noFill/>
          <a:ln/>
        </p:spPr>
        <p:txBody>
          <a:bodyPr wrap="square" lIns="0" tIns="0" rIns="0" bIns="0" rtlCol="0" anchor="t"/>
          <a:lstStyle/>
          <a:p>
            <a:pPr marL="0" indent="0">
              <a:buNone/>
            </a:pPr>
            <a:r>
              <a:rPr lang="ko-KR" altLang="en-US" sz="1300" dirty="0">
                <a:solidFill>
                  <a:schemeClr val="tx2"/>
                </a:solidFill>
                <a:latin typeface="Noto Sans KR Black" panose="020B0200000000000000" pitchFamily="50" charset="-127"/>
                <a:ea typeface="Noto Sans KR Black" panose="020B0200000000000000" pitchFamily="50" charset="-127"/>
              </a:rPr>
              <a:t>얼굴형 · 퍼스널 컬러 · 체형별 추천</a:t>
            </a:r>
            <a:endParaRPr lang="ko-KR" sz="1300" dirty="0">
              <a:latin typeface="Noto Sans KR Black" panose="020B0200000000000000" pitchFamily="50" charset="-127"/>
              <a:ea typeface="Noto Sans KR Black" panose="020B0200000000000000" pitchFamily="50" charset="-127"/>
            </a:endParaRPr>
          </a:p>
        </p:txBody>
      </p:sp>
      <p:sp>
        <p:nvSpPr>
          <p:cNvPr id="28" name="rule-36"/>
          <p:cNvSpPr/>
          <p:nvPr/>
        </p:nvSpPr>
        <p:spPr>
          <a:xfrm>
            <a:off x="7406640" y="4590288"/>
            <a:ext cx="4005072" cy="0"/>
          </a:xfrm>
          <a:prstGeom prst="line">
            <a:avLst/>
          </a:prstGeom>
          <a:noFill/>
          <a:ln w="9525">
            <a:solidFill>
              <a:schemeClr val="accent5"/>
            </a:solidFill>
            <a:prstDash val="solid"/>
          </a:ln>
        </p:spPr>
      </p:sp>
      <p:sp>
        <p:nvSpPr>
          <p:cNvPr id="17" name="text-29"/>
          <p:cNvSpPr txBox="1"/>
          <p:nvPr/>
        </p:nvSpPr>
        <p:spPr>
          <a:xfrm>
            <a:off x="7406640" y="4617720"/>
            <a:ext cx="4005072" cy="292608"/>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비슷한 스타일</a:t>
            </a:r>
            <a:endParaRPr lang="ko-KR" sz="1600" dirty="0">
              <a:latin typeface="Noto Sans KR Black" panose="020B0200000000000000" pitchFamily="50" charset="-127"/>
              <a:ea typeface="Noto Sans KR Black" panose="020B0200000000000000" pitchFamily="50" charset="-127"/>
            </a:endParaRPr>
          </a:p>
        </p:txBody>
      </p:sp>
      <p:sp>
        <p:nvSpPr>
          <p:cNvPr id="18" name="text-30"/>
          <p:cNvSpPr txBox="1"/>
          <p:nvPr/>
        </p:nvSpPr>
        <p:spPr>
          <a:xfrm>
            <a:off x="7406640" y="4901184"/>
            <a:ext cx="4005072" cy="274320"/>
          </a:xfrm>
          <a:prstGeom prst="rect">
            <a:avLst/>
          </a:prstGeom>
          <a:noFill/>
          <a:ln/>
        </p:spPr>
        <p:txBody>
          <a:bodyPr wrap="square" lIns="0" tIns="0" rIns="0" bIns="0" rtlCol="0" anchor="t"/>
          <a:lstStyle/>
          <a:p>
            <a:pPr marL="0" indent="0">
              <a:buNone/>
            </a:pPr>
            <a:r>
              <a:rPr lang="ko-KR" altLang="en-US" sz="1300" dirty="0">
                <a:solidFill>
                  <a:schemeClr val="tx2"/>
                </a:solidFill>
                <a:latin typeface="Noto Sans KR Black" panose="020B0200000000000000" pitchFamily="50" charset="-127"/>
                <a:ea typeface="Noto Sans KR Black" panose="020B0200000000000000" pitchFamily="50" charset="-127"/>
              </a:rPr>
              <a:t>예시 사진 중 닮은 3장</a:t>
            </a:r>
            <a:endParaRPr lang="ko-KR" sz="1300" dirty="0">
              <a:latin typeface="Noto Sans KR Black" panose="020B0200000000000000" pitchFamily="50" charset="-127"/>
              <a:ea typeface="Noto Sans KR Black" panose="020B0200000000000000" pitchFamily="50" charset="-127"/>
            </a:endParaRPr>
          </a:p>
        </p:txBody>
      </p:sp>
      <p:sp>
        <p:nvSpPr>
          <p:cNvPr id="19" name="rule-31"/>
          <p:cNvSpPr/>
          <p:nvPr/>
        </p:nvSpPr>
        <p:spPr>
          <a:xfrm>
            <a:off x="7406640" y="5193792"/>
            <a:ext cx="4005072" cy="0"/>
          </a:xfrm>
          <a:prstGeom prst="line">
            <a:avLst/>
          </a:prstGeom>
          <a:noFill/>
          <a:ln w="9525">
            <a:solidFill>
              <a:schemeClr val="accent5"/>
            </a:solidFill>
            <a:prstDash val="solid"/>
          </a:ln>
        </p:spPr>
      </p:sp>
      <p:sp>
        <p:nvSpPr>
          <p:cNvPr id="20" name="text-32"/>
          <p:cNvSpPr txBox="1"/>
          <p:nvPr/>
        </p:nvSpPr>
        <p:spPr>
          <a:xfrm>
            <a:off x="7406640" y="5221224"/>
            <a:ext cx="4005072" cy="292608"/>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용어 설명</a:t>
            </a:r>
            <a:endParaRPr lang="ko-KR" sz="1600" dirty="0">
              <a:latin typeface="Noto Sans KR Black" panose="020B0200000000000000" pitchFamily="50" charset="-127"/>
              <a:ea typeface="Noto Sans KR Black" panose="020B0200000000000000" pitchFamily="50" charset="-127"/>
            </a:endParaRPr>
          </a:p>
        </p:txBody>
      </p:sp>
      <p:sp>
        <p:nvSpPr>
          <p:cNvPr id="21" name="text-33"/>
          <p:cNvSpPr txBox="1"/>
          <p:nvPr/>
        </p:nvSpPr>
        <p:spPr>
          <a:xfrm>
            <a:off x="7406640" y="5504688"/>
            <a:ext cx="4005072" cy="274320"/>
          </a:xfrm>
          <a:prstGeom prst="rect">
            <a:avLst/>
          </a:prstGeom>
          <a:noFill/>
          <a:ln/>
        </p:spPr>
        <p:txBody>
          <a:bodyPr wrap="square" lIns="0" tIns="0" rIns="0" bIns="0" rtlCol="0" anchor="t"/>
          <a:lstStyle/>
          <a:p>
            <a:pPr marL="0" indent="0">
              <a:buNone/>
            </a:pPr>
            <a:r>
              <a:rPr lang="ko-KR" altLang="en-US" sz="1300" dirty="0">
                <a:solidFill>
                  <a:schemeClr val="tx2"/>
                </a:solidFill>
                <a:latin typeface="Noto Sans KR Black" panose="020B0200000000000000" pitchFamily="50" charset="-127"/>
                <a:ea typeface="Noto Sans KR Black" panose="020B0200000000000000" pitchFamily="50" charset="-127"/>
              </a:rPr>
              <a:t>라벨 324개마다 한 줄 정의</a:t>
            </a:r>
            <a:endParaRPr lang="ko-KR" sz="1300" dirty="0">
              <a:latin typeface="Noto Sans KR Black" panose="020B0200000000000000" pitchFamily="50" charset="-127"/>
              <a:ea typeface="Noto Sans KR Black" panose="020B0200000000000000" pitchFamily="50" charset="-127"/>
            </a:endParaRPr>
          </a:p>
        </p:txBody>
      </p:sp>
      <p:sp>
        <p:nvSpPr>
          <p:cNvPr id="2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548640"/>
            <a:ext cx="10637215" cy="777240"/>
          </a:xfrm>
          <a:prstGeom prst="rect">
            <a:avLst/>
          </a:prstGeom>
          <a:noFill/>
          <a:ln/>
        </p:spPr>
        <p:txBody>
          <a:bodyPr wrap="square" lIns="0" tIns="0" rIns="0" bIns="0" rtlCol="0" anchor="t"/>
          <a:lstStyle/>
          <a:p>
            <a:pPr marL="0" indent="0" algn="l">
              <a:buNone/>
            </a:pPr>
            <a:r>
              <a:rPr lang="ko-KR" altLang="en-US" sz="3600" b="1" dirty="0">
                <a:solidFill>
                  <a:schemeClr val="tx1"/>
                </a:solidFill>
                <a:latin typeface="Noto Sans KR Black" panose="020B0200000000000000" pitchFamily="50" charset="-127"/>
                <a:ea typeface="Noto Sans KR Black" panose="020B0200000000000000" pitchFamily="50" charset="-127"/>
              </a:rPr>
              <a:t>시술 요청서</a:t>
            </a:r>
            <a:endParaRPr lang="ko-KR" sz="3600" dirty="0">
              <a:latin typeface="Noto Sans KR Black" panose="020B0200000000000000" pitchFamily="50" charset="-127"/>
              <a:ea typeface="Noto Sans KR Black" panose="020B0200000000000000" pitchFamily="50" charset="-127"/>
            </a:endParaRPr>
          </a:p>
        </p:txBody>
      </p:sp>
      <p:sp>
        <p:nvSpPr>
          <p:cNvPr id="3" name="card-34"/>
          <p:cNvSpPr/>
          <p:nvPr/>
        </p:nvSpPr>
        <p:spPr>
          <a:xfrm>
            <a:off x="777240" y="1554480"/>
            <a:ext cx="2514600" cy="4526280"/>
          </a:xfrm>
          <a:prstGeom prst="roundRect">
            <a:avLst>
              <a:gd name="adj" fmla="val 4364"/>
            </a:avLst>
          </a:prstGeom>
          <a:solidFill>
            <a:schemeClr val="bg2"/>
          </a:solidFill>
          <a:ln/>
        </p:spPr>
      </p:sp>
      <p:pic>
        <p:nvPicPr>
          <p:cNvPr id="4" name="order-35" descr="이미지로 저장한 시술 요청서: 사진, 원하는 스타일, 커트 · 기장 · 앞머리 · 컬러 표와 참고 안내"/>
          <p:cNvPicPr>
            <a:picLocks noChangeAspect="1"/>
          </p:cNvPicPr>
          <p:nvPr/>
        </p:nvPicPr>
        <p:blipFill>
          <a:blip r:embed="rId3"/>
          <a:stretch>
            <a:fillRect/>
          </a:stretch>
        </p:blipFill>
        <p:spPr>
          <a:xfrm>
            <a:off x="977494" y="1645920"/>
            <a:ext cx="2114093" cy="4343400"/>
          </a:xfrm>
          <a:prstGeom prst="rect">
            <a:avLst/>
          </a:prstGeom>
        </p:spPr>
      </p:pic>
      <p:sp>
        <p:nvSpPr>
          <p:cNvPr id="5" name="text-36"/>
          <p:cNvSpPr txBox="1"/>
          <p:nvPr/>
        </p:nvSpPr>
        <p:spPr>
          <a:xfrm>
            <a:off x="3657600" y="1600200"/>
            <a:ext cx="7754112" cy="411480"/>
          </a:xfrm>
          <a:prstGeom prst="rect">
            <a:avLst/>
          </a:prstGeom>
          <a:noFill/>
          <a:ln/>
        </p:spPr>
        <p:txBody>
          <a:bodyPr wrap="square" lIns="0" tIns="0" rIns="0" bIns="0" rtlCol="0" anchor="t"/>
          <a:lstStyle/>
          <a:p>
            <a:pPr marL="0" indent="0">
              <a:buNone/>
            </a:pPr>
            <a:r>
              <a:rPr lang="ko-KR" altLang="en-US" sz="1600" dirty="0">
                <a:solidFill>
                  <a:schemeClr val="tx2"/>
                </a:solidFill>
                <a:latin typeface="Noto Sans KR Black" panose="020B0200000000000000" pitchFamily="50" charset="-127"/>
                <a:ea typeface="Noto Sans KR Black" panose="020B0200000000000000" pitchFamily="50" charset="-127"/>
              </a:rPr>
              <a:t>미용실 · 네일숍 · 타투숍에 그대로 보여 주는 요약입니다.</a:t>
            </a:r>
            <a:endParaRPr lang="ko-KR" sz="1600" dirty="0">
              <a:latin typeface="Noto Sans KR Black" panose="020B0200000000000000" pitchFamily="50" charset="-127"/>
              <a:ea typeface="Noto Sans KR Black" panose="020B0200000000000000" pitchFamily="50" charset="-127"/>
            </a:endParaRPr>
          </a:p>
        </p:txBody>
      </p:sp>
      <p:sp>
        <p:nvSpPr>
          <p:cNvPr id="6" name="card-37"/>
          <p:cNvSpPr/>
          <p:nvPr/>
        </p:nvSpPr>
        <p:spPr>
          <a:xfrm>
            <a:off x="3657600" y="2194560"/>
            <a:ext cx="7754112" cy="960120"/>
          </a:xfrm>
          <a:prstGeom prst="roundRect">
            <a:avLst>
              <a:gd name="adj" fmla="val 11429"/>
            </a:avLst>
          </a:prstGeom>
          <a:solidFill>
            <a:schemeClr val="bg2"/>
          </a:solidFill>
          <a:ln/>
        </p:spPr>
      </p:sp>
      <p:sp>
        <p:nvSpPr>
          <p:cNvPr id="7" name="text-38"/>
          <p:cNvSpPr txBox="1"/>
          <p:nvPr/>
        </p:nvSpPr>
        <p:spPr>
          <a:xfrm>
            <a:off x="3931920" y="2350008"/>
            <a:ext cx="7223760" cy="320040"/>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확실한 항목은 표로</a:t>
            </a:r>
            <a:endParaRPr lang="ko-KR" sz="1600" dirty="0">
              <a:latin typeface="Noto Sans KR Black" panose="020B0200000000000000" pitchFamily="50" charset="-127"/>
              <a:ea typeface="Noto Sans KR Black" panose="020B0200000000000000" pitchFamily="50" charset="-127"/>
            </a:endParaRPr>
          </a:p>
        </p:txBody>
      </p:sp>
      <p:sp>
        <p:nvSpPr>
          <p:cNvPr id="8" name="text-39"/>
          <p:cNvSpPr txBox="1"/>
          <p:nvPr/>
        </p:nvSpPr>
        <p:spPr>
          <a:xfrm>
            <a:off x="3931920" y="2715768"/>
            <a:ext cx="7223760" cy="32004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커트 레이어드컷 · 기장 긴머리 · 앞머리 커튼뱅</a:t>
            </a:r>
            <a:endParaRPr lang="ko-KR" sz="1400" dirty="0">
              <a:latin typeface="Noto Sans KR Black" panose="020B0200000000000000" pitchFamily="50" charset="-127"/>
              <a:ea typeface="Noto Sans KR Black" panose="020B0200000000000000" pitchFamily="50" charset="-127"/>
            </a:endParaRPr>
          </a:p>
        </p:txBody>
      </p:sp>
      <p:sp>
        <p:nvSpPr>
          <p:cNvPr id="9" name="card-40"/>
          <p:cNvSpPr/>
          <p:nvPr/>
        </p:nvSpPr>
        <p:spPr>
          <a:xfrm>
            <a:off x="3657600" y="3291840"/>
            <a:ext cx="7754112" cy="960120"/>
          </a:xfrm>
          <a:prstGeom prst="roundRect">
            <a:avLst>
              <a:gd name="adj" fmla="val 11429"/>
            </a:avLst>
          </a:prstGeom>
          <a:solidFill>
            <a:schemeClr val="bg2"/>
          </a:solidFill>
          <a:ln/>
        </p:spPr>
      </p:sp>
      <p:sp>
        <p:nvSpPr>
          <p:cNvPr id="10" name="text-41"/>
          <p:cNvSpPr txBox="1"/>
          <p:nvPr/>
        </p:nvSpPr>
        <p:spPr>
          <a:xfrm>
            <a:off x="3931920" y="3447288"/>
            <a:ext cx="7223760" cy="320040"/>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애매한 항목은 따로</a:t>
            </a:r>
            <a:endParaRPr lang="ko-KR" sz="1600" dirty="0">
              <a:latin typeface="Noto Sans KR Black" panose="020B0200000000000000" pitchFamily="50" charset="-127"/>
              <a:ea typeface="Noto Sans KR Black" panose="020B0200000000000000" pitchFamily="50" charset="-127"/>
            </a:endParaRPr>
          </a:p>
        </p:txBody>
      </p:sp>
      <p:sp>
        <p:nvSpPr>
          <p:cNvPr id="11" name="text-42"/>
          <p:cNvSpPr txBox="1"/>
          <p:nvPr/>
        </p:nvSpPr>
        <p:spPr>
          <a:xfrm>
            <a:off x="3931920" y="3813048"/>
            <a:ext cx="7223760" cy="32004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"상담 때 정할 것"으로 빼서 잘못 전달되지 않게 합니다</a:t>
            </a:r>
            <a:endParaRPr lang="ko-KR" sz="1400" dirty="0">
              <a:latin typeface="Noto Sans KR Black" panose="020B0200000000000000" pitchFamily="50" charset="-127"/>
              <a:ea typeface="Noto Sans KR Black" panose="020B0200000000000000" pitchFamily="50" charset="-127"/>
            </a:endParaRPr>
          </a:p>
        </p:txBody>
      </p:sp>
      <p:sp>
        <p:nvSpPr>
          <p:cNvPr id="12" name="card-43"/>
          <p:cNvSpPr/>
          <p:nvPr/>
        </p:nvSpPr>
        <p:spPr>
          <a:xfrm>
            <a:off x="3657600" y="4389120"/>
            <a:ext cx="7754112" cy="960120"/>
          </a:xfrm>
          <a:prstGeom prst="roundRect">
            <a:avLst>
              <a:gd name="adj" fmla="val 11429"/>
            </a:avLst>
          </a:prstGeom>
          <a:solidFill>
            <a:schemeClr val="bg2"/>
          </a:solidFill>
          <a:ln/>
        </p:spPr>
      </p:sp>
      <p:sp>
        <p:nvSpPr>
          <p:cNvPr id="13" name="text-44"/>
          <p:cNvSpPr txBox="1"/>
          <p:nvPr/>
        </p:nvSpPr>
        <p:spPr>
          <a:xfrm>
            <a:off x="3931920" y="4544568"/>
            <a:ext cx="7223760" cy="320040"/>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사진 속 실제 색</a:t>
            </a:r>
            <a:endParaRPr lang="ko-KR" sz="1600" dirty="0">
              <a:latin typeface="Noto Sans KR Black" panose="020B0200000000000000" pitchFamily="50" charset="-127"/>
              <a:ea typeface="Noto Sans KR Black" panose="020B0200000000000000" pitchFamily="50" charset="-127"/>
            </a:endParaRPr>
          </a:p>
        </p:txBody>
      </p:sp>
      <p:sp>
        <p:nvSpPr>
          <p:cNvPr id="14" name="text-45"/>
          <p:cNvSpPr txBox="1"/>
          <p:nvPr/>
        </p:nvSpPr>
        <p:spPr>
          <a:xfrm>
            <a:off x="3931920" y="4910328"/>
            <a:ext cx="7223760" cy="32004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머리카락 부분만 골라 뽑은 색 · 다크브라운 계열 · 약 3레벨</a:t>
            </a:r>
            <a:endParaRPr lang="ko-KR" sz="1400" dirty="0">
              <a:latin typeface="Noto Sans KR Black" panose="020B0200000000000000" pitchFamily="50" charset="-127"/>
              <a:ea typeface="Noto Sans KR Black" panose="020B0200000000000000" pitchFamily="50" charset="-127"/>
            </a:endParaRPr>
          </a:p>
        </p:txBody>
      </p:sp>
      <p:sp>
        <p:nvSpPr>
          <p:cNvPr id="15" name="text-46"/>
          <p:cNvSpPr txBox="1"/>
          <p:nvPr/>
        </p:nvSpPr>
        <p:spPr>
          <a:xfrm>
            <a:off x="3657600" y="5577840"/>
            <a:ext cx="7754112" cy="320040"/>
          </a:xfrm>
          <a:prstGeom prst="rect">
            <a:avLst/>
          </a:prstGeom>
          <a:noFill/>
          <a:ln/>
        </p:spPr>
        <p:txBody>
          <a:bodyPr wrap="square" lIns="0" tIns="0" rIns="0" bIns="0" rtlCol="0" anchor="t"/>
          <a:lstStyle/>
          <a:p>
            <a:pPr marL="0" indent="0">
              <a:buNone/>
            </a:pPr>
            <a:r>
              <a:rPr lang="ko-KR" altLang="en-US" sz="1300" dirty="0">
                <a:solidFill>
                  <a:schemeClr val="accent4"/>
                </a:solidFill>
                <a:latin typeface="Noto Sans KR Black" panose="020B0200000000000000" pitchFamily="50" charset="-127"/>
                <a:ea typeface="Noto Sans KR Black" panose="020B0200000000000000" pitchFamily="50" charset="-127"/>
              </a:rPr>
              <a:t>복사하거나 이미지로 저장하고, 휴대폰에서는 공유 창으로 바로 보냅니다.</a:t>
            </a:r>
            <a:endParaRPr lang="ko-KR" sz="1300" dirty="0">
              <a:latin typeface="Noto Sans KR Black" panose="020B0200000000000000" pitchFamily="50" charset="-127"/>
              <a:ea typeface="Noto Sans KR Black" panose="020B0200000000000000" pitchFamily="50" charset="-127"/>
            </a:endParaRPr>
          </a:p>
        </p:txBody>
      </p:sp>
      <p:sp>
        <p:nvSpPr>
          <p:cNvPr id="2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latin typeface="Noto Sans KR Black" panose="020B0200000000000000" pitchFamily="50" charset="-127"/>
                <a:ea typeface="Noto Sans KR Black" panose="020B0200000000000000" pitchFamily="50" charset="-127"/>
              </a:rPr>
              <a:t>5</a:t>
            </a:fld>
            <a:endParaRPr lang="en-US">
              <a:latin typeface="Noto Sans KR Black" panose="020B0200000000000000" pitchFamily="50" charset="-127"/>
              <a:ea typeface="Noto Sans KR Black" panose="020B0200000000000000" pitchFamily="50" charset="-127"/>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548640"/>
            <a:ext cx="10637215" cy="777240"/>
          </a:xfrm>
          <a:prstGeom prst="rect">
            <a:avLst/>
          </a:prstGeom>
          <a:noFill/>
          <a:ln/>
        </p:spPr>
        <p:txBody>
          <a:bodyPr wrap="square" lIns="0" tIns="0" rIns="0" bIns="0" rtlCol="0" anchor="t"/>
          <a:lstStyle/>
          <a:p>
            <a:pPr marL="0" indent="0" algn="l">
              <a:buNone/>
            </a:pPr>
            <a:r>
              <a:rPr lang="ko-KR" altLang="en-US" sz="3600" b="1" dirty="0">
                <a:solidFill>
                  <a:schemeClr val="tx1"/>
                </a:solidFill>
                <a:latin typeface="Noto Sans KR Black" panose="020B0200000000000000" pitchFamily="50" charset="-127"/>
                <a:ea typeface="Noto Sans KR Black" panose="020B0200000000000000" pitchFamily="50" charset="-127"/>
              </a:rPr>
              <a:t>동작 방식</a:t>
            </a:r>
            <a:endParaRPr lang="ko-KR" sz="3600" dirty="0">
              <a:latin typeface="Noto Sans KR Black" panose="020B0200000000000000" pitchFamily="50" charset="-127"/>
              <a:ea typeface="Noto Sans KR Black" panose="020B0200000000000000" pitchFamily="50" charset="-127"/>
            </a:endParaRPr>
          </a:p>
        </p:txBody>
      </p:sp>
      <p:sp>
        <p:nvSpPr>
          <p:cNvPr id="3" name="card-47"/>
          <p:cNvSpPr/>
          <p:nvPr/>
        </p:nvSpPr>
        <p:spPr>
          <a:xfrm>
            <a:off x="777240" y="1645920"/>
            <a:ext cx="2212848" cy="2377440"/>
          </a:xfrm>
          <a:prstGeom prst="roundRect">
            <a:avLst>
              <a:gd name="adj" fmla="val 4959"/>
            </a:avLst>
          </a:prstGeom>
          <a:solidFill>
            <a:schemeClr val="bg1"/>
          </a:solidFill>
          <a:ln w="9525">
            <a:solidFill>
              <a:schemeClr val="accent5"/>
            </a:solidFill>
            <a:prstDash val="solid"/>
          </a:ln>
        </p:spPr>
      </p:sp>
      <p:sp>
        <p:nvSpPr>
          <p:cNvPr id="4" name="step-48"/>
          <p:cNvSpPr/>
          <p:nvPr/>
        </p:nvSpPr>
        <p:spPr>
          <a:xfrm>
            <a:off x="1005840" y="1874520"/>
            <a:ext cx="420624" cy="420624"/>
          </a:xfrm>
          <a:prstGeom prst="ellipse">
            <a:avLst/>
          </a:prstGeom>
          <a:solidFill>
            <a:schemeClr val="accent1"/>
          </a:solidFill>
          <a:ln/>
        </p:spPr>
      </p:sp>
      <p:sp>
        <p:nvSpPr>
          <p:cNvPr id="5" name="text-49"/>
          <p:cNvSpPr txBox="1"/>
          <p:nvPr/>
        </p:nvSpPr>
        <p:spPr>
          <a:xfrm>
            <a:off x="1005840" y="1874520"/>
            <a:ext cx="420624" cy="420624"/>
          </a:xfrm>
          <a:prstGeom prst="rect">
            <a:avLst/>
          </a:prstGeom>
          <a:noFill/>
          <a:ln/>
        </p:spPr>
        <p:txBody>
          <a:bodyPr wrap="square" lIns="0" tIns="0" rIns="0" bIns="0" rtlCol="0" anchor="ctr"/>
          <a:lstStyle/>
          <a:p>
            <a:pPr marL="0" indent="0" algn="ctr">
              <a:buNone/>
            </a:pPr>
            <a:r>
              <a:rPr lang="ko-KR" altLang="en-US" sz="1400" b="1" dirty="0">
                <a:solidFill>
                  <a:schemeClr val="bg1"/>
                </a:solidFill>
                <a:latin typeface="Noto Sans KR Black" panose="020B0200000000000000" pitchFamily="50" charset="-127"/>
                <a:ea typeface="Noto Sans KR Black" panose="020B0200000000000000" pitchFamily="50" charset="-127"/>
              </a:rPr>
              <a:t>1</a:t>
            </a:r>
            <a:endParaRPr lang="ko-KR" sz="1400" dirty="0">
              <a:latin typeface="Noto Sans KR Black" panose="020B0200000000000000" pitchFamily="50" charset="-127"/>
              <a:ea typeface="Noto Sans KR Black" panose="020B0200000000000000" pitchFamily="50" charset="-127"/>
            </a:endParaRPr>
          </a:p>
        </p:txBody>
      </p:sp>
      <p:sp>
        <p:nvSpPr>
          <p:cNvPr id="6" name="text-50"/>
          <p:cNvSpPr txBox="1"/>
          <p:nvPr/>
        </p:nvSpPr>
        <p:spPr>
          <a:xfrm>
            <a:off x="1005840" y="2468880"/>
            <a:ext cx="1801368" cy="365760"/>
          </a:xfrm>
          <a:prstGeom prst="rect">
            <a:avLst/>
          </a:prstGeom>
          <a:noFill/>
          <a:ln/>
        </p:spPr>
        <p:txBody>
          <a:bodyPr wrap="square" lIns="0" tIns="0" rIns="0" bIns="0" rtlCol="0" anchor="t"/>
          <a:lstStyle/>
          <a:p>
            <a:pPr marL="0" indent="0">
              <a:buNone/>
            </a:pPr>
            <a:r>
              <a:rPr lang="ko-KR" altLang="en-US" sz="1800" b="1" dirty="0">
                <a:solidFill>
                  <a:schemeClr val="tx1"/>
                </a:solidFill>
                <a:latin typeface="Noto Sans KR Black" panose="020B0200000000000000" pitchFamily="50" charset="-127"/>
                <a:ea typeface="Noto Sans KR Black" panose="020B0200000000000000" pitchFamily="50" charset="-127"/>
              </a:rPr>
              <a:t>사진 1장</a:t>
            </a:r>
            <a:endParaRPr lang="ko-KR" sz="1800" dirty="0">
              <a:latin typeface="Noto Sans KR Black" panose="020B0200000000000000" pitchFamily="50" charset="-127"/>
              <a:ea typeface="Noto Sans KR Black" panose="020B0200000000000000" pitchFamily="50" charset="-127"/>
            </a:endParaRPr>
          </a:p>
        </p:txBody>
      </p:sp>
      <p:sp>
        <p:nvSpPr>
          <p:cNvPr id="7" name="text-51"/>
          <p:cNvSpPr txBox="1"/>
          <p:nvPr/>
        </p:nvSpPr>
        <p:spPr>
          <a:xfrm>
            <a:off x="1005840" y="2880360"/>
            <a:ext cx="1801368" cy="1051560"/>
          </a:xfrm>
          <a:prstGeom prst="rect">
            <a:avLst/>
          </a:prstGeom>
          <a:noFill/>
          <a:ln/>
        </p:spPr>
        <p:txBody>
          <a:bodyPr wrap="square" lIns="0" tIns="0" rIns="0" bIns="0" rtlCol="0" anchor="t"/>
          <a:lstStyle/>
          <a:p>
            <a:pPr marL="0" indent="0">
              <a:lnSpc>
                <a:spcPct val="110000"/>
              </a:lnSpc>
              <a:buNone/>
            </a:pPr>
            <a:r>
              <a:rPr lang="ko-KR" altLang="en-US" sz="1200" dirty="0">
                <a:solidFill>
                  <a:schemeClr val="tx2"/>
                </a:solidFill>
                <a:latin typeface="Noto Sans KR Black" panose="020B0200000000000000" pitchFamily="50" charset="-127"/>
                <a:ea typeface="Noto Sans KR Black" panose="020B0200000000000000" pitchFamily="50" charset="-127"/>
              </a:rPr>
              <a:t>업로드 · 촬영 · 예시 사진</a:t>
            </a:r>
            <a:endParaRPr lang="ko-KR" sz="1200" dirty="0">
              <a:latin typeface="Noto Sans KR Black" panose="020B0200000000000000" pitchFamily="50" charset="-127"/>
              <a:ea typeface="Noto Sans KR Black" panose="020B0200000000000000" pitchFamily="50" charset="-127"/>
            </a:endParaRPr>
          </a:p>
        </p:txBody>
      </p:sp>
      <p:sp>
        <p:nvSpPr>
          <p:cNvPr id="8" name="arrow-52"/>
          <p:cNvSpPr/>
          <p:nvPr/>
        </p:nvSpPr>
        <p:spPr>
          <a:xfrm>
            <a:off x="3099816" y="2715768"/>
            <a:ext cx="365760" cy="237744"/>
          </a:xfrm>
          <a:prstGeom prst="rightArrow">
            <a:avLst/>
          </a:prstGeom>
          <a:solidFill>
            <a:schemeClr val="accent2"/>
          </a:solidFill>
          <a:ln/>
        </p:spPr>
      </p:sp>
      <p:sp>
        <p:nvSpPr>
          <p:cNvPr id="9" name="card-53"/>
          <p:cNvSpPr/>
          <p:nvPr/>
        </p:nvSpPr>
        <p:spPr>
          <a:xfrm>
            <a:off x="3575304" y="1645920"/>
            <a:ext cx="2212848" cy="2377440"/>
          </a:xfrm>
          <a:prstGeom prst="roundRect">
            <a:avLst>
              <a:gd name="adj" fmla="val 4959"/>
            </a:avLst>
          </a:prstGeom>
          <a:solidFill>
            <a:schemeClr val="bg1"/>
          </a:solidFill>
          <a:ln w="9525">
            <a:solidFill>
              <a:schemeClr val="accent5"/>
            </a:solidFill>
            <a:prstDash val="solid"/>
          </a:ln>
        </p:spPr>
      </p:sp>
      <p:sp>
        <p:nvSpPr>
          <p:cNvPr id="10" name="step-54"/>
          <p:cNvSpPr/>
          <p:nvPr/>
        </p:nvSpPr>
        <p:spPr>
          <a:xfrm>
            <a:off x="3803904" y="1874520"/>
            <a:ext cx="420624" cy="420624"/>
          </a:xfrm>
          <a:prstGeom prst="ellipse">
            <a:avLst/>
          </a:prstGeom>
          <a:solidFill>
            <a:schemeClr val="accent1"/>
          </a:solidFill>
          <a:ln/>
        </p:spPr>
      </p:sp>
      <p:sp>
        <p:nvSpPr>
          <p:cNvPr id="11" name="text-55"/>
          <p:cNvSpPr txBox="1"/>
          <p:nvPr/>
        </p:nvSpPr>
        <p:spPr>
          <a:xfrm>
            <a:off x="3803904" y="1874520"/>
            <a:ext cx="420624" cy="420624"/>
          </a:xfrm>
          <a:prstGeom prst="rect">
            <a:avLst/>
          </a:prstGeom>
          <a:noFill/>
          <a:ln/>
        </p:spPr>
        <p:txBody>
          <a:bodyPr wrap="square" lIns="0" tIns="0" rIns="0" bIns="0" rtlCol="0" anchor="ctr"/>
          <a:lstStyle/>
          <a:p>
            <a:pPr marL="0" indent="0" algn="ctr">
              <a:buNone/>
            </a:pPr>
            <a:r>
              <a:rPr lang="ko-KR" altLang="en-US" sz="1400" b="1" dirty="0">
                <a:solidFill>
                  <a:schemeClr val="bg1"/>
                </a:solidFill>
                <a:latin typeface="Noto Sans KR Black" panose="020B0200000000000000" pitchFamily="50" charset="-127"/>
                <a:ea typeface="Noto Sans KR Black" panose="020B0200000000000000" pitchFamily="50" charset="-127"/>
              </a:rPr>
              <a:t>2</a:t>
            </a:r>
            <a:endParaRPr lang="ko-KR" sz="1400" dirty="0">
              <a:latin typeface="Noto Sans KR Black" panose="020B0200000000000000" pitchFamily="50" charset="-127"/>
              <a:ea typeface="Noto Sans KR Black" panose="020B0200000000000000" pitchFamily="50" charset="-127"/>
            </a:endParaRPr>
          </a:p>
        </p:txBody>
      </p:sp>
      <p:sp>
        <p:nvSpPr>
          <p:cNvPr id="12" name="text-56"/>
          <p:cNvSpPr txBox="1"/>
          <p:nvPr/>
        </p:nvSpPr>
        <p:spPr>
          <a:xfrm>
            <a:off x="3803904" y="2468880"/>
            <a:ext cx="1801368" cy="365760"/>
          </a:xfrm>
          <a:prstGeom prst="rect">
            <a:avLst/>
          </a:prstGeom>
          <a:noFill/>
          <a:ln/>
        </p:spPr>
        <p:txBody>
          <a:bodyPr wrap="square" lIns="0" tIns="0" rIns="0" bIns="0" rtlCol="0" anchor="t"/>
          <a:lstStyle/>
          <a:p>
            <a:pPr marL="0" indent="0">
              <a:buNone/>
            </a:pPr>
            <a:r>
              <a:rPr lang="ko-KR" altLang="en-US" sz="1800" b="1" dirty="0">
                <a:solidFill>
                  <a:schemeClr val="tx1"/>
                </a:solidFill>
                <a:latin typeface="Noto Sans KR Black" panose="020B0200000000000000" pitchFamily="50" charset="-127"/>
                <a:ea typeface="Noto Sans KR Black" panose="020B0200000000000000" pitchFamily="50" charset="-127"/>
              </a:rPr>
              <a:t>비전 모델</a:t>
            </a:r>
            <a:endParaRPr lang="ko-KR" sz="1800" dirty="0">
              <a:latin typeface="Noto Sans KR Black" panose="020B0200000000000000" pitchFamily="50" charset="-127"/>
              <a:ea typeface="Noto Sans KR Black" panose="020B0200000000000000" pitchFamily="50" charset="-127"/>
            </a:endParaRPr>
          </a:p>
        </p:txBody>
      </p:sp>
      <p:sp>
        <p:nvSpPr>
          <p:cNvPr id="13" name="text-57"/>
          <p:cNvSpPr txBox="1"/>
          <p:nvPr/>
        </p:nvSpPr>
        <p:spPr>
          <a:xfrm>
            <a:off x="3803904" y="2880360"/>
            <a:ext cx="1801368" cy="1051560"/>
          </a:xfrm>
          <a:prstGeom prst="rect">
            <a:avLst/>
          </a:prstGeom>
          <a:noFill/>
          <a:ln/>
        </p:spPr>
        <p:txBody>
          <a:bodyPr wrap="square" lIns="0" tIns="0" rIns="0" bIns="0" rtlCol="0" anchor="t"/>
          <a:lstStyle/>
          <a:p>
            <a:pPr marL="0" indent="0">
              <a:lnSpc>
                <a:spcPct val="110000"/>
              </a:lnSpc>
              <a:buNone/>
            </a:pPr>
            <a:r>
              <a:rPr lang="ko-KR" altLang="en-US" sz="1200" dirty="0">
                <a:solidFill>
                  <a:schemeClr val="tx2"/>
                </a:solidFill>
                <a:latin typeface="Noto Sans KR Black" panose="020B0200000000000000" pitchFamily="50" charset="-127"/>
                <a:ea typeface="Noto Sans KR Black" panose="020B0200000000000000" pitchFamily="50" charset="-127"/>
              </a:rPr>
              <a:t>SigLIP 계열을 Transformers.js 로 브라우저에서 실행 </a:t>
            </a:r>
            <a:endParaRPr lang="en-US" altLang="ko-KR" sz="1200" dirty="0">
              <a:solidFill>
                <a:schemeClr val="tx2"/>
              </a:solidFill>
              <a:latin typeface="Noto Sans KR Black" panose="020B0200000000000000" pitchFamily="50" charset="-127"/>
              <a:ea typeface="Noto Sans KR Black" panose="020B0200000000000000" pitchFamily="50" charset="-127"/>
            </a:endParaRPr>
          </a:p>
          <a:p>
            <a:pPr marL="0" indent="0">
              <a:lnSpc>
                <a:spcPct val="110000"/>
              </a:lnSpc>
              <a:buNone/>
            </a:pPr>
            <a:r>
              <a:rPr lang="ko-KR" altLang="en-US" sz="1200" dirty="0">
                <a:solidFill>
                  <a:schemeClr val="tx2"/>
                </a:solidFill>
                <a:latin typeface="Noto Sans KR Black" panose="020B0200000000000000" pitchFamily="50" charset="-127"/>
                <a:ea typeface="Noto Sans KR Black" panose="020B0200000000000000" pitchFamily="50" charset="-127"/>
              </a:rPr>
              <a:t>→ 숫자 벡터</a:t>
            </a:r>
            <a:endParaRPr lang="ko-KR" sz="1200" dirty="0">
              <a:latin typeface="Noto Sans KR Black" panose="020B0200000000000000" pitchFamily="50" charset="-127"/>
              <a:ea typeface="Noto Sans KR Black" panose="020B0200000000000000" pitchFamily="50" charset="-127"/>
            </a:endParaRPr>
          </a:p>
        </p:txBody>
      </p:sp>
      <p:sp>
        <p:nvSpPr>
          <p:cNvPr id="14" name="arrow-58"/>
          <p:cNvSpPr/>
          <p:nvPr/>
        </p:nvSpPr>
        <p:spPr>
          <a:xfrm>
            <a:off x="5897880" y="2715768"/>
            <a:ext cx="365760" cy="237744"/>
          </a:xfrm>
          <a:prstGeom prst="rightArrow">
            <a:avLst/>
          </a:prstGeom>
          <a:solidFill>
            <a:schemeClr val="accent2"/>
          </a:solidFill>
          <a:ln/>
        </p:spPr>
      </p:sp>
      <p:sp>
        <p:nvSpPr>
          <p:cNvPr id="15" name="card-59"/>
          <p:cNvSpPr/>
          <p:nvPr/>
        </p:nvSpPr>
        <p:spPr>
          <a:xfrm>
            <a:off x="6373368" y="1645920"/>
            <a:ext cx="2212848" cy="2377440"/>
          </a:xfrm>
          <a:prstGeom prst="roundRect">
            <a:avLst>
              <a:gd name="adj" fmla="val 4959"/>
            </a:avLst>
          </a:prstGeom>
          <a:solidFill>
            <a:schemeClr val="bg1"/>
          </a:solidFill>
          <a:ln w="9525">
            <a:solidFill>
              <a:schemeClr val="accent5"/>
            </a:solidFill>
            <a:prstDash val="solid"/>
          </a:ln>
        </p:spPr>
      </p:sp>
      <p:sp>
        <p:nvSpPr>
          <p:cNvPr id="16" name="step-60"/>
          <p:cNvSpPr/>
          <p:nvPr/>
        </p:nvSpPr>
        <p:spPr>
          <a:xfrm>
            <a:off x="6601968" y="1874520"/>
            <a:ext cx="420624" cy="420624"/>
          </a:xfrm>
          <a:prstGeom prst="ellipse">
            <a:avLst/>
          </a:prstGeom>
          <a:solidFill>
            <a:schemeClr val="accent1"/>
          </a:solidFill>
          <a:ln/>
        </p:spPr>
      </p:sp>
      <p:sp>
        <p:nvSpPr>
          <p:cNvPr id="17" name="text-61"/>
          <p:cNvSpPr txBox="1"/>
          <p:nvPr/>
        </p:nvSpPr>
        <p:spPr>
          <a:xfrm>
            <a:off x="6601968" y="1874520"/>
            <a:ext cx="420624" cy="420624"/>
          </a:xfrm>
          <a:prstGeom prst="rect">
            <a:avLst/>
          </a:prstGeom>
          <a:noFill/>
          <a:ln/>
        </p:spPr>
        <p:txBody>
          <a:bodyPr wrap="square" lIns="0" tIns="0" rIns="0" bIns="0" rtlCol="0" anchor="ctr"/>
          <a:lstStyle/>
          <a:p>
            <a:pPr marL="0" indent="0" algn="ctr">
              <a:buNone/>
            </a:pPr>
            <a:r>
              <a:rPr lang="ko-KR" altLang="en-US" sz="1400" b="1" dirty="0">
                <a:solidFill>
                  <a:schemeClr val="bg1"/>
                </a:solidFill>
                <a:latin typeface="Noto Sans KR Black" panose="020B0200000000000000" pitchFamily="50" charset="-127"/>
                <a:ea typeface="Noto Sans KR Black" panose="020B0200000000000000" pitchFamily="50" charset="-127"/>
              </a:rPr>
              <a:t>3</a:t>
            </a:r>
            <a:endParaRPr lang="ko-KR" sz="1400" dirty="0">
              <a:latin typeface="Noto Sans KR Black" panose="020B0200000000000000" pitchFamily="50" charset="-127"/>
              <a:ea typeface="Noto Sans KR Black" panose="020B0200000000000000" pitchFamily="50" charset="-127"/>
            </a:endParaRPr>
          </a:p>
        </p:txBody>
      </p:sp>
      <p:sp>
        <p:nvSpPr>
          <p:cNvPr id="18" name="text-62"/>
          <p:cNvSpPr txBox="1"/>
          <p:nvPr/>
        </p:nvSpPr>
        <p:spPr>
          <a:xfrm>
            <a:off x="6601968" y="2468880"/>
            <a:ext cx="1801368" cy="365760"/>
          </a:xfrm>
          <a:prstGeom prst="rect">
            <a:avLst/>
          </a:prstGeom>
          <a:noFill/>
          <a:ln/>
        </p:spPr>
        <p:txBody>
          <a:bodyPr wrap="square" lIns="0" tIns="0" rIns="0" bIns="0" rtlCol="0" anchor="t"/>
          <a:lstStyle/>
          <a:p>
            <a:pPr marL="0" indent="0">
              <a:buNone/>
            </a:pPr>
            <a:r>
              <a:rPr lang="ko-KR" altLang="en-US" sz="1800" b="1" dirty="0">
                <a:solidFill>
                  <a:schemeClr val="tx1"/>
                </a:solidFill>
                <a:latin typeface="Noto Sans KR Black" panose="020B0200000000000000" pitchFamily="50" charset="-127"/>
                <a:ea typeface="Noto Sans KR Black" panose="020B0200000000000000" pitchFamily="50" charset="-127"/>
              </a:rPr>
              <a:t>판단</a:t>
            </a:r>
            <a:endParaRPr lang="ko-KR" sz="1800" dirty="0">
              <a:latin typeface="Noto Sans KR Black" panose="020B0200000000000000" pitchFamily="50" charset="-127"/>
              <a:ea typeface="Noto Sans KR Black" panose="020B0200000000000000" pitchFamily="50" charset="-127"/>
            </a:endParaRPr>
          </a:p>
        </p:txBody>
      </p:sp>
      <p:sp>
        <p:nvSpPr>
          <p:cNvPr id="19" name="text-63"/>
          <p:cNvSpPr txBox="1"/>
          <p:nvPr/>
        </p:nvSpPr>
        <p:spPr>
          <a:xfrm>
            <a:off x="6601968" y="2880360"/>
            <a:ext cx="1801368" cy="1051560"/>
          </a:xfrm>
          <a:prstGeom prst="rect">
            <a:avLst/>
          </a:prstGeom>
          <a:noFill/>
          <a:ln/>
        </p:spPr>
        <p:txBody>
          <a:bodyPr wrap="square" lIns="0" tIns="0" rIns="0" bIns="0" rtlCol="0" anchor="t"/>
          <a:lstStyle/>
          <a:p>
            <a:pPr marL="0" indent="0">
              <a:lnSpc>
                <a:spcPct val="110000"/>
              </a:lnSpc>
              <a:buNone/>
            </a:pPr>
            <a:r>
              <a:rPr lang="ko-KR" altLang="en-US" sz="1400" dirty="0">
                <a:solidFill>
                  <a:schemeClr val="tx2"/>
                </a:solidFill>
                <a:latin typeface="Noto Sans KR Black" panose="020B0200000000000000" pitchFamily="50" charset="-127"/>
                <a:ea typeface="Noto Sans KR Black" panose="020B0200000000000000" pitchFamily="50" charset="-127"/>
              </a:rPr>
              <a:t>라벨 324개 문장과 비교한 </a:t>
            </a:r>
            <a:r>
              <a:rPr lang="ko-KR" altLang="en-US" sz="1400" dirty="0" err="1">
                <a:solidFill>
                  <a:schemeClr val="tx2"/>
                </a:solidFill>
                <a:latin typeface="Noto Sans KR Black" panose="020B0200000000000000" pitchFamily="50" charset="-127"/>
                <a:ea typeface="Noto Sans KR Black" panose="020B0200000000000000" pitchFamily="50" charset="-127"/>
              </a:rPr>
              <a:t>제로샷</a:t>
            </a:r>
            <a:r>
              <a:rPr lang="ko-KR" altLang="en-US" sz="1400" dirty="0">
                <a:solidFill>
                  <a:schemeClr val="tx2"/>
                </a:solidFill>
                <a:latin typeface="Noto Sans KR Black" panose="020B0200000000000000" pitchFamily="50" charset="-127"/>
                <a:ea typeface="Noto Sans KR Black" panose="020B0200000000000000" pitchFamily="50" charset="-127"/>
              </a:rPr>
              <a:t> </a:t>
            </a:r>
            <a:endParaRPr lang="en-US" altLang="ko-KR" sz="1400" dirty="0">
              <a:solidFill>
                <a:schemeClr val="tx2"/>
              </a:solidFill>
              <a:latin typeface="Noto Sans KR Black" panose="020B0200000000000000" pitchFamily="50" charset="-127"/>
              <a:ea typeface="Noto Sans KR Black" panose="020B0200000000000000" pitchFamily="50" charset="-127"/>
            </a:endParaRPr>
          </a:p>
          <a:p>
            <a:pPr marL="0" indent="0">
              <a:lnSpc>
                <a:spcPct val="110000"/>
              </a:lnSpc>
              <a:buNone/>
            </a:pPr>
            <a:r>
              <a:rPr lang="ko-KR" altLang="en-US" sz="1400" dirty="0">
                <a:solidFill>
                  <a:schemeClr val="tx2"/>
                </a:solidFill>
                <a:latin typeface="Noto Sans KR Black" panose="020B0200000000000000" pitchFamily="50" charset="-127"/>
                <a:ea typeface="Noto Sans KR Black" panose="020B0200000000000000" pitchFamily="50" charset="-127"/>
              </a:rPr>
              <a:t>+ 직접 학습한 분류기</a:t>
            </a:r>
            <a:endParaRPr lang="ko-KR" sz="1400" dirty="0">
              <a:latin typeface="Noto Sans KR Black" panose="020B0200000000000000" pitchFamily="50" charset="-127"/>
              <a:ea typeface="Noto Sans KR Black" panose="020B0200000000000000" pitchFamily="50" charset="-127"/>
            </a:endParaRPr>
          </a:p>
        </p:txBody>
      </p:sp>
      <p:sp>
        <p:nvSpPr>
          <p:cNvPr id="20" name="arrow-64"/>
          <p:cNvSpPr/>
          <p:nvPr/>
        </p:nvSpPr>
        <p:spPr>
          <a:xfrm>
            <a:off x="8695944" y="2715768"/>
            <a:ext cx="365760" cy="237744"/>
          </a:xfrm>
          <a:prstGeom prst="rightArrow">
            <a:avLst/>
          </a:prstGeom>
          <a:solidFill>
            <a:schemeClr val="accent2"/>
          </a:solidFill>
          <a:ln/>
        </p:spPr>
      </p:sp>
      <p:sp>
        <p:nvSpPr>
          <p:cNvPr id="21" name="card-65"/>
          <p:cNvSpPr/>
          <p:nvPr/>
        </p:nvSpPr>
        <p:spPr>
          <a:xfrm>
            <a:off x="9171432" y="1645920"/>
            <a:ext cx="2212848" cy="2377440"/>
          </a:xfrm>
          <a:prstGeom prst="roundRect">
            <a:avLst>
              <a:gd name="adj" fmla="val 4959"/>
            </a:avLst>
          </a:prstGeom>
          <a:solidFill>
            <a:schemeClr val="bg1"/>
          </a:solidFill>
          <a:ln w="9525">
            <a:solidFill>
              <a:schemeClr val="accent5"/>
            </a:solidFill>
            <a:prstDash val="solid"/>
          </a:ln>
        </p:spPr>
      </p:sp>
      <p:sp>
        <p:nvSpPr>
          <p:cNvPr id="22" name="step-66"/>
          <p:cNvSpPr/>
          <p:nvPr/>
        </p:nvSpPr>
        <p:spPr>
          <a:xfrm>
            <a:off x="9400032" y="1874520"/>
            <a:ext cx="420624" cy="420624"/>
          </a:xfrm>
          <a:prstGeom prst="ellipse">
            <a:avLst/>
          </a:prstGeom>
          <a:solidFill>
            <a:schemeClr val="accent1"/>
          </a:solidFill>
          <a:ln/>
        </p:spPr>
      </p:sp>
      <p:sp>
        <p:nvSpPr>
          <p:cNvPr id="23" name="text-67"/>
          <p:cNvSpPr txBox="1"/>
          <p:nvPr/>
        </p:nvSpPr>
        <p:spPr>
          <a:xfrm>
            <a:off x="9400032" y="1874520"/>
            <a:ext cx="420624" cy="420624"/>
          </a:xfrm>
          <a:prstGeom prst="rect">
            <a:avLst/>
          </a:prstGeom>
          <a:noFill/>
          <a:ln/>
        </p:spPr>
        <p:txBody>
          <a:bodyPr wrap="square" lIns="0" tIns="0" rIns="0" bIns="0" rtlCol="0" anchor="ctr"/>
          <a:lstStyle/>
          <a:p>
            <a:pPr marL="0" indent="0" algn="ctr">
              <a:buNone/>
            </a:pPr>
            <a:r>
              <a:rPr lang="ko-KR" altLang="en-US" sz="1400" b="1" dirty="0">
                <a:solidFill>
                  <a:schemeClr val="bg1"/>
                </a:solidFill>
                <a:latin typeface="Noto Sans KR Black" panose="020B0200000000000000" pitchFamily="50" charset="-127"/>
                <a:ea typeface="Noto Sans KR Black" panose="020B0200000000000000" pitchFamily="50" charset="-127"/>
              </a:rPr>
              <a:t>4</a:t>
            </a:r>
            <a:endParaRPr lang="ko-KR" sz="1400" dirty="0">
              <a:latin typeface="Noto Sans KR Black" panose="020B0200000000000000" pitchFamily="50" charset="-127"/>
              <a:ea typeface="Noto Sans KR Black" panose="020B0200000000000000" pitchFamily="50" charset="-127"/>
            </a:endParaRPr>
          </a:p>
        </p:txBody>
      </p:sp>
      <p:sp>
        <p:nvSpPr>
          <p:cNvPr id="24" name="text-68"/>
          <p:cNvSpPr txBox="1"/>
          <p:nvPr/>
        </p:nvSpPr>
        <p:spPr>
          <a:xfrm>
            <a:off x="9400032" y="2468880"/>
            <a:ext cx="1801368" cy="365760"/>
          </a:xfrm>
          <a:prstGeom prst="rect">
            <a:avLst/>
          </a:prstGeom>
          <a:noFill/>
          <a:ln/>
        </p:spPr>
        <p:txBody>
          <a:bodyPr wrap="square" lIns="0" tIns="0" rIns="0" bIns="0" rtlCol="0" anchor="t"/>
          <a:lstStyle/>
          <a:p>
            <a:pPr marL="0" indent="0">
              <a:buNone/>
            </a:pPr>
            <a:r>
              <a:rPr lang="ko-KR" altLang="en-US" sz="1800" b="1" dirty="0">
                <a:solidFill>
                  <a:schemeClr val="tx1"/>
                </a:solidFill>
                <a:latin typeface="Noto Sans KR Black" panose="020B0200000000000000" pitchFamily="50" charset="-127"/>
                <a:ea typeface="Noto Sans KR Black" panose="020B0200000000000000" pitchFamily="50" charset="-127"/>
              </a:rPr>
              <a:t>문장</a:t>
            </a:r>
            <a:endParaRPr lang="ko-KR" sz="1800" dirty="0">
              <a:latin typeface="Noto Sans KR Black" panose="020B0200000000000000" pitchFamily="50" charset="-127"/>
              <a:ea typeface="Noto Sans KR Black" panose="020B0200000000000000" pitchFamily="50" charset="-127"/>
            </a:endParaRPr>
          </a:p>
        </p:txBody>
      </p:sp>
      <p:sp>
        <p:nvSpPr>
          <p:cNvPr id="25" name="text-69"/>
          <p:cNvSpPr txBox="1"/>
          <p:nvPr/>
        </p:nvSpPr>
        <p:spPr>
          <a:xfrm>
            <a:off x="9400032" y="2880360"/>
            <a:ext cx="1801368" cy="1051560"/>
          </a:xfrm>
          <a:prstGeom prst="rect">
            <a:avLst/>
          </a:prstGeom>
          <a:noFill/>
          <a:ln/>
        </p:spPr>
        <p:txBody>
          <a:bodyPr wrap="square" lIns="0" tIns="0" rIns="0" bIns="0" rtlCol="0" anchor="t"/>
          <a:lstStyle/>
          <a:p>
            <a:pPr marL="0" indent="0">
              <a:lnSpc>
                <a:spcPct val="110000"/>
              </a:lnSpc>
              <a:buNone/>
            </a:pPr>
            <a:r>
              <a:rPr lang="ko-KR" altLang="en-US" sz="1400" dirty="0">
                <a:solidFill>
                  <a:schemeClr val="tx2"/>
                </a:solidFill>
                <a:latin typeface="Noto Sans KR Black" panose="020B0200000000000000" pitchFamily="50" charset="-127"/>
                <a:ea typeface="Noto Sans KR Black" panose="020B0200000000000000" pitchFamily="50" charset="-127"/>
              </a:rPr>
              <a:t>확률 보정 후 </a:t>
            </a:r>
            <a:endParaRPr lang="en-US" altLang="ko-KR" sz="1400" dirty="0">
              <a:solidFill>
                <a:schemeClr val="tx2"/>
              </a:solidFill>
              <a:latin typeface="Noto Sans KR Black" panose="020B0200000000000000" pitchFamily="50" charset="-127"/>
              <a:ea typeface="Noto Sans KR Black" panose="020B0200000000000000" pitchFamily="50" charset="-127"/>
            </a:endParaRPr>
          </a:p>
          <a:p>
            <a:pPr marL="0" indent="0">
              <a:lnSpc>
                <a:spcPct val="110000"/>
              </a:lnSpc>
              <a:buNone/>
            </a:pPr>
            <a:r>
              <a:rPr lang="ko-KR" altLang="en-US" sz="1400" dirty="0">
                <a:solidFill>
                  <a:schemeClr val="tx2"/>
                </a:solidFill>
                <a:latin typeface="Noto Sans KR Black" panose="020B0200000000000000" pitchFamily="50" charset="-127"/>
                <a:ea typeface="Noto Sans KR Black" panose="020B0200000000000000" pitchFamily="50" charset="-127"/>
              </a:rPr>
              <a:t>＂ ~예요 " </a:t>
            </a:r>
            <a:endParaRPr lang="en-US" altLang="ko-KR" sz="1400" dirty="0">
              <a:solidFill>
                <a:schemeClr val="tx2"/>
              </a:solidFill>
              <a:latin typeface="Noto Sans KR Black" panose="020B0200000000000000" pitchFamily="50" charset="-127"/>
              <a:ea typeface="Noto Sans KR Black" panose="020B0200000000000000" pitchFamily="50" charset="-127"/>
            </a:endParaRPr>
          </a:p>
          <a:p>
            <a:pPr marL="0" indent="0">
              <a:lnSpc>
                <a:spcPct val="110000"/>
              </a:lnSpc>
              <a:buNone/>
            </a:pPr>
            <a:r>
              <a:rPr lang="ko-KR" altLang="en-US" sz="1400" dirty="0">
                <a:solidFill>
                  <a:schemeClr val="tx2"/>
                </a:solidFill>
                <a:latin typeface="Noto Sans KR Black" panose="020B0200000000000000" pitchFamily="50" charset="-127"/>
                <a:ea typeface="Noto Sans KR Black" panose="020B0200000000000000" pitchFamily="50" charset="-127"/>
              </a:rPr>
              <a:t>＂ ~로 보여요 "  </a:t>
            </a:r>
            <a:endParaRPr lang="ko-KR" sz="1400" dirty="0">
              <a:latin typeface="Noto Sans KR Black" panose="020B0200000000000000" pitchFamily="50" charset="-127"/>
              <a:ea typeface="Noto Sans KR Black" panose="020B0200000000000000" pitchFamily="50" charset="-127"/>
            </a:endParaRPr>
          </a:p>
        </p:txBody>
      </p:sp>
      <p:sp>
        <p:nvSpPr>
          <p:cNvPr id="26" name="card-70"/>
          <p:cNvSpPr/>
          <p:nvPr/>
        </p:nvSpPr>
        <p:spPr>
          <a:xfrm>
            <a:off x="777240" y="4343400"/>
            <a:ext cx="3364992" cy="1143000"/>
          </a:xfrm>
          <a:prstGeom prst="roundRect">
            <a:avLst>
              <a:gd name="adj" fmla="val 9600"/>
            </a:avLst>
          </a:prstGeom>
          <a:solidFill>
            <a:schemeClr val="bg1"/>
          </a:solidFill>
          <a:ln/>
        </p:spPr>
      </p:sp>
      <p:sp>
        <p:nvSpPr>
          <p:cNvPr id="27" name="text-71"/>
          <p:cNvSpPr txBox="1"/>
          <p:nvPr/>
        </p:nvSpPr>
        <p:spPr>
          <a:xfrm>
            <a:off x="1051560" y="4526280"/>
            <a:ext cx="2834640" cy="365760"/>
          </a:xfrm>
          <a:prstGeom prst="rect">
            <a:avLst/>
          </a:prstGeom>
          <a:noFill/>
          <a:ln/>
        </p:spPr>
        <p:txBody>
          <a:bodyPr wrap="square" lIns="0" tIns="0" rIns="0" bIns="0" rtlCol="0" anchor="t"/>
          <a:lstStyle/>
          <a:p>
            <a:pPr marL="0" indent="0">
              <a:buNone/>
            </a:pPr>
            <a:r>
              <a:rPr lang="ko-KR" altLang="en-US" sz="1800" b="1" dirty="0">
                <a:solidFill>
                  <a:schemeClr val="tx1"/>
                </a:solidFill>
                <a:latin typeface="Noto Sans KR Black" panose="020B0200000000000000" pitchFamily="50" charset="-127"/>
                <a:ea typeface="Noto Sans KR Black" panose="020B0200000000000000" pitchFamily="50" charset="-127"/>
              </a:rPr>
              <a:t>서버 없음</a:t>
            </a:r>
            <a:endParaRPr lang="ko-KR" sz="1800" dirty="0">
              <a:latin typeface="Noto Sans KR Black" panose="020B0200000000000000" pitchFamily="50" charset="-127"/>
              <a:ea typeface="Noto Sans KR Black" panose="020B0200000000000000" pitchFamily="50" charset="-127"/>
            </a:endParaRPr>
          </a:p>
        </p:txBody>
      </p:sp>
      <p:sp>
        <p:nvSpPr>
          <p:cNvPr id="28" name="text-72"/>
          <p:cNvSpPr txBox="1"/>
          <p:nvPr/>
        </p:nvSpPr>
        <p:spPr>
          <a:xfrm>
            <a:off x="1051560" y="4956048"/>
            <a:ext cx="2834640" cy="36576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사진이 기기 밖으로 나가지 않음</a:t>
            </a:r>
            <a:endParaRPr lang="ko-KR" sz="1400" dirty="0">
              <a:latin typeface="Noto Sans KR Black" panose="020B0200000000000000" pitchFamily="50" charset="-127"/>
              <a:ea typeface="Noto Sans KR Black" panose="020B0200000000000000" pitchFamily="50" charset="-127"/>
            </a:endParaRPr>
          </a:p>
        </p:txBody>
      </p:sp>
      <p:sp>
        <p:nvSpPr>
          <p:cNvPr id="29" name="card-73"/>
          <p:cNvSpPr/>
          <p:nvPr/>
        </p:nvSpPr>
        <p:spPr>
          <a:xfrm>
            <a:off x="4416552" y="4343400"/>
            <a:ext cx="3364992" cy="1143000"/>
          </a:xfrm>
          <a:prstGeom prst="roundRect">
            <a:avLst>
              <a:gd name="adj" fmla="val 9600"/>
            </a:avLst>
          </a:prstGeom>
          <a:solidFill>
            <a:schemeClr val="bg1"/>
          </a:solidFill>
          <a:ln/>
        </p:spPr>
      </p:sp>
      <p:sp>
        <p:nvSpPr>
          <p:cNvPr id="30" name="text-74"/>
          <p:cNvSpPr txBox="1"/>
          <p:nvPr/>
        </p:nvSpPr>
        <p:spPr>
          <a:xfrm>
            <a:off x="4690872" y="4526280"/>
            <a:ext cx="2834640" cy="365760"/>
          </a:xfrm>
          <a:prstGeom prst="rect">
            <a:avLst/>
          </a:prstGeom>
          <a:noFill/>
          <a:ln/>
        </p:spPr>
        <p:txBody>
          <a:bodyPr wrap="square" lIns="0" tIns="0" rIns="0" bIns="0" rtlCol="0" anchor="t"/>
          <a:lstStyle/>
          <a:p>
            <a:pPr marL="0" indent="0">
              <a:buNone/>
            </a:pPr>
            <a:r>
              <a:rPr lang="ko-KR" altLang="en-US" sz="1800" b="1" dirty="0">
                <a:solidFill>
                  <a:schemeClr val="tx1"/>
                </a:solidFill>
                <a:latin typeface="Noto Sans KR Black" panose="020B0200000000000000" pitchFamily="50" charset="-127"/>
                <a:ea typeface="Noto Sans KR Black" panose="020B0200000000000000" pitchFamily="50" charset="-127"/>
              </a:rPr>
              <a:t>94MB, 한 번만</a:t>
            </a:r>
            <a:endParaRPr lang="ko-KR" sz="1800" dirty="0">
              <a:latin typeface="Noto Sans KR Black" panose="020B0200000000000000" pitchFamily="50" charset="-127"/>
              <a:ea typeface="Noto Sans KR Black" panose="020B0200000000000000" pitchFamily="50" charset="-127"/>
            </a:endParaRPr>
          </a:p>
        </p:txBody>
      </p:sp>
      <p:sp>
        <p:nvSpPr>
          <p:cNvPr id="31" name="text-75"/>
          <p:cNvSpPr txBox="1"/>
          <p:nvPr/>
        </p:nvSpPr>
        <p:spPr>
          <a:xfrm>
            <a:off x="4690872" y="4956048"/>
            <a:ext cx="2834640" cy="36576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처음 접속 때 내려받고 캐시</a:t>
            </a:r>
            <a:endParaRPr lang="ko-KR" sz="1400" dirty="0">
              <a:latin typeface="Noto Sans KR Black" panose="020B0200000000000000" pitchFamily="50" charset="-127"/>
              <a:ea typeface="Noto Sans KR Black" panose="020B0200000000000000" pitchFamily="50" charset="-127"/>
            </a:endParaRPr>
          </a:p>
        </p:txBody>
      </p:sp>
      <p:sp>
        <p:nvSpPr>
          <p:cNvPr id="32" name="card-76"/>
          <p:cNvSpPr/>
          <p:nvPr/>
        </p:nvSpPr>
        <p:spPr>
          <a:xfrm>
            <a:off x="8055864" y="4343400"/>
            <a:ext cx="3364992" cy="1143000"/>
          </a:xfrm>
          <a:prstGeom prst="roundRect">
            <a:avLst>
              <a:gd name="adj" fmla="val 9600"/>
            </a:avLst>
          </a:prstGeom>
          <a:solidFill>
            <a:schemeClr val="bg1"/>
          </a:solidFill>
          <a:ln/>
        </p:spPr>
      </p:sp>
      <p:sp>
        <p:nvSpPr>
          <p:cNvPr id="33" name="text-77"/>
          <p:cNvSpPr txBox="1"/>
          <p:nvPr/>
        </p:nvSpPr>
        <p:spPr>
          <a:xfrm>
            <a:off x="8330184" y="4526280"/>
            <a:ext cx="2834640" cy="365760"/>
          </a:xfrm>
          <a:prstGeom prst="rect">
            <a:avLst/>
          </a:prstGeom>
          <a:noFill/>
          <a:ln/>
        </p:spPr>
        <p:txBody>
          <a:bodyPr wrap="square" lIns="0" tIns="0" rIns="0" bIns="0" rtlCol="0" anchor="t"/>
          <a:lstStyle/>
          <a:p>
            <a:pPr marL="0" indent="0">
              <a:buNone/>
            </a:pPr>
            <a:r>
              <a:rPr lang="ko-KR" altLang="en-US" sz="1800" b="1" dirty="0">
                <a:solidFill>
                  <a:schemeClr val="tx1"/>
                </a:solidFill>
                <a:latin typeface="Noto Sans KR Black" panose="020B0200000000000000" pitchFamily="50" charset="-127"/>
                <a:ea typeface="Noto Sans KR Black" panose="020B0200000000000000" pitchFamily="50" charset="-127"/>
              </a:rPr>
              <a:t>약 0.6초</a:t>
            </a:r>
            <a:endParaRPr lang="ko-KR" sz="1800" dirty="0">
              <a:latin typeface="Noto Sans KR Black" panose="020B0200000000000000" pitchFamily="50" charset="-127"/>
              <a:ea typeface="Noto Sans KR Black" panose="020B0200000000000000" pitchFamily="50" charset="-127"/>
            </a:endParaRPr>
          </a:p>
        </p:txBody>
      </p:sp>
      <p:sp>
        <p:nvSpPr>
          <p:cNvPr id="34" name="text-78"/>
          <p:cNvSpPr txBox="1"/>
          <p:nvPr/>
        </p:nvSpPr>
        <p:spPr>
          <a:xfrm>
            <a:off x="8330184" y="4956048"/>
            <a:ext cx="2834640" cy="36576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사진 1장 분석 (일반 CPU)</a:t>
            </a:r>
            <a:endParaRPr lang="ko-KR" sz="1400" dirty="0">
              <a:latin typeface="Noto Sans KR Black" panose="020B0200000000000000" pitchFamily="50" charset="-127"/>
              <a:ea typeface="Noto Sans KR Black" panose="020B0200000000000000" pitchFamily="50" charset="-127"/>
            </a:endParaRPr>
          </a:p>
        </p:txBody>
      </p:sp>
      <p:sp>
        <p:nvSpPr>
          <p:cNvPr id="3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latin typeface="Noto Sans KR Black" panose="020B0200000000000000" pitchFamily="50" charset="-127"/>
                <a:ea typeface="Noto Sans KR Black" panose="020B0200000000000000" pitchFamily="50" charset="-127"/>
              </a:rPr>
              <a:t>8</a:t>
            </a:fld>
            <a:endParaRPr lang="en-US">
              <a:latin typeface="Noto Sans KR Black" panose="020B0200000000000000" pitchFamily="50" charset="-127"/>
              <a:ea typeface="Noto Sans KR Black" panose="020B0200000000000000" pitchFamily="50" charset="-127"/>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548640"/>
            <a:ext cx="10637215" cy="777240"/>
          </a:xfrm>
          <a:prstGeom prst="rect">
            <a:avLst/>
          </a:prstGeom>
          <a:noFill/>
          <a:ln/>
        </p:spPr>
        <p:txBody>
          <a:bodyPr wrap="square" lIns="0" tIns="0" rIns="0" bIns="0" rtlCol="0" anchor="t"/>
          <a:lstStyle/>
          <a:p>
            <a:pPr marL="0" indent="0" algn="l">
              <a:buNone/>
            </a:pPr>
            <a:r>
              <a:rPr lang="ko-KR" altLang="en-US" sz="3600" b="1" dirty="0">
                <a:solidFill>
                  <a:schemeClr val="tx1"/>
                </a:solidFill>
                <a:latin typeface="Noto Sans KR Black" panose="020B0200000000000000" pitchFamily="50" charset="-127"/>
                <a:ea typeface="Noto Sans KR Black" panose="020B0200000000000000" pitchFamily="50" charset="-127"/>
              </a:rPr>
              <a:t>확실할 때만 단정합니다</a:t>
            </a:r>
            <a:endParaRPr lang="ko-KR" sz="3600" dirty="0">
              <a:latin typeface="Noto Sans KR Black" panose="020B0200000000000000" pitchFamily="50" charset="-127"/>
              <a:ea typeface="Noto Sans KR Black" panose="020B0200000000000000" pitchFamily="50" charset="-127"/>
            </a:endParaRPr>
          </a:p>
        </p:txBody>
      </p:sp>
      <p:sp>
        <p:nvSpPr>
          <p:cNvPr id="3" name="text-79"/>
          <p:cNvSpPr txBox="1"/>
          <p:nvPr/>
        </p:nvSpPr>
        <p:spPr>
          <a:xfrm>
            <a:off x="777240" y="1463040"/>
            <a:ext cx="10637215" cy="411480"/>
          </a:xfrm>
          <a:prstGeom prst="rect">
            <a:avLst/>
          </a:prstGeom>
          <a:noFill/>
          <a:ln/>
        </p:spPr>
        <p:txBody>
          <a:bodyPr wrap="square" lIns="0" tIns="0" rIns="0" bIns="0" rtlCol="0" anchor="t"/>
          <a:lstStyle/>
          <a:p>
            <a:pPr marL="0" indent="0">
              <a:buNone/>
            </a:pPr>
            <a:r>
              <a:rPr lang="ko-KR" altLang="en-US" sz="1600" dirty="0">
                <a:solidFill>
                  <a:schemeClr val="tx2"/>
                </a:solidFill>
                <a:latin typeface="Noto Sans KR Black" panose="020B0200000000000000" pitchFamily="50" charset="-127"/>
                <a:ea typeface="Noto Sans KR Black" panose="020B0200000000000000" pitchFamily="50" charset="-127"/>
              </a:rPr>
              <a:t>확률을 실제 적중률에 맞게 보정한 뒤, 확신 정도에 따라 말투를 바꿉니다.</a:t>
            </a:r>
            <a:endParaRPr lang="ko-KR" sz="1600" dirty="0">
              <a:latin typeface="Noto Sans KR Black" panose="020B0200000000000000" pitchFamily="50" charset="-127"/>
              <a:ea typeface="Noto Sans KR Black" panose="020B0200000000000000" pitchFamily="50" charset="-127"/>
            </a:endParaRPr>
          </a:p>
        </p:txBody>
      </p:sp>
      <p:sp>
        <p:nvSpPr>
          <p:cNvPr id="4" name="card-80"/>
          <p:cNvSpPr/>
          <p:nvPr/>
        </p:nvSpPr>
        <p:spPr>
          <a:xfrm>
            <a:off x="777240" y="2103120"/>
            <a:ext cx="3364992" cy="3200400"/>
          </a:xfrm>
          <a:prstGeom prst="roundRect">
            <a:avLst>
              <a:gd name="adj" fmla="val 3429"/>
            </a:avLst>
          </a:prstGeom>
          <a:solidFill>
            <a:schemeClr val="bg2"/>
          </a:solidFill>
          <a:ln/>
        </p:spPr>
      </p:sp>
      <p:sp>
        <p:nvSpPr>
          <p:cNvPr id="5" name="text-81"/>
          <p:cNvSpPr txBox="1"/>
          <p:nvPr/>
        </p:nvSpPr>
        <p:spPr>
          <a:xfrm>
            <a:off x="1097280" y="2377440"/>
            <a:ext cx="2743200" cy="320040"/>
          </a:xfrm>
          <a:prstGeom prst="rect">
            <a:avLst/>
          </a:prstGeom>
          <a:noFill/>
          <a:ln/>
        </p:spPr>
        <p:txBody>
          <a:bodyPr wrap="square" lIns="0" tIns="0" rIns="0" bIns="0" rtlCol="0" anchor="t"/>
          <a:lstStyle/>
          <a:p>
            <a:pPr marL="0" indent="0">
              <a:buNone/>
            </a:pPr>
            <a:r>
              <a:rPr lang="ko-KR" altLang="en-US" sz="1400" b="1" dirty="0">
                <a:solidFill>
                  <a:schemeClr val="accent3"/>
                </a:solidFill>
                <a:latin typeface="Noto Sans KR Black" panose="020B0200000000000000" pitchFamily="50" charset="-127"/>
                <a:ea typeface="Noto Sans KR Black" panose="020B0200000000000000" pitchFamily="50" charset="-127"/>
              </a:rPr>
              <a:t>확률 90% 이상</a:t>
            </a:r>
            <a:endParaRPr lang="ko-KR" sz="1400" dirty="0">
              <a:latin typeface="Noto Sans KR Black" panose="020B0200000000000000" pitchFamily="50" charset="-127"/>
              <a:ea typeface="Noto Sans KR Black" panose="020B0200000000000000" pitchFamily="50" charset="-127"/>
            </a:endParaRPr>
          </a:p>
        </p:txBody>
      </p:sp>
      <p:sp>
        <p:nvSpPr>
          <p:cNvPr id="6" name="text-82"/>
          <p:cNvSpPr txBox="1"/>
          <p:nvPr/>
        </p:nvSpPr>
        <p:spPr>
          <a:xfrm>
            <a:off x="1097280" y="2743200"/>
            <a:ext cx="2743200" cy="914400"/>
          </a:xfrm>
          <a:prstGeom prst="rect">
            <a:avLst/>
          </a:prstGeom>
          <a:noFill/>
          <a:ln/>
        </p:spPr>
        <p:txBody>
          <a:bodyPr wrap="square" lIns="0" tIns="0" rIns="0" bIns="0" rtlCol="0" anchor="t"/>
          <a:lstStyle/>
          <a:p>
            <a:pPr marL="0" indent="0">
              <a:buNone/>
            </a:pPr>
            <a:r>
              <a:rPr lang="ko-KR" altLang="en-US" sz="5400" b="1" dirty="0">
                <a:solidFill>
                  <a:schemeClr val="tx1"/>
                </a:solidFill>
                <a:latin typeface="Noto Sans KR Black" panose="020B0200000000000000" pitchFamily="50" charset="-127"/>
                <a:ea typeface="Noto Sans KR Black" panose="020B0200000000000000" pitchFamily="50" charset="-127"/>
              </a:rPr>
              <a:t>96%</a:t>
            </a:r>
            <a:endParaRPr lang="ko-KR" sz="5400" dirty="0">
              <a:latin typeface="Noto Sans KR Black" panose="020B0200000000000000" pitchFamily="50" charset="-127"/>
              <a:ea typeface="Noto Sans KR Black" panose="020B0200000000000000" pitchFamily="50" charset="-127"/>
            </a:endParaRPr>
          </a:p>
        </p:txBody>
      </p:sp>
      <p:sp>
        <p:nvSpPr>
          <p:cNvPr id="7" name="text-83"/>
          <p:cNvSpPr txBox="1"/>
          <p:nvPr/>
        </p:nvSpPr>
        <p:spPr>
          <a:xfrm>
            <a:off x="1097280" y="3794760"/>
            <a:ext cx="2743200" cy="365760"/>
          </a:xfrm>
          <a:prstGeom prst="rect">
            <a:avLst/>
          </a:prstGeom>
          <a:noFill/>
          <a:ln/>
        </p:spPr>
        <p:txBody>
          <a:bodyPr wrap="square" lIns="0" tIns="0" rIns="0" bIns="0" rtlCol="0" anchor="t"/>
          <a:lstStyle/>
          <a:p>
            <a:pPr marL="0" indent="0">
              <a:buNone/>
            </a:pPr>
            <a:r>
              <a:rPr lang="ko-KR" altLang="en-US" sz="1800" b="1" dirty="0">
                <a:solidFill>
                  <a:schemeClr val="tx1"/>
                </a:solidFill>
                <a:latin typeface="Noto Sans KR Black" panose="020B0200000000000000" pitchFamily="50" charset="-127"/>
                <a:ea typeface="Noto Sans KR Black" panose="020B0200000000000000" pitchFamily="50" charset="-127"/>
              </a:rPr>
              <a:t>"~예요"로 단정</a:t>
            </a:r>
            <a:endParaRPr lang="ko-KR" sz="1800" dirty="0">
              <a:latin typeface="Noto Sans KR Black" panose="020B0200000000000000" pitchFamily="50" charset="-127"/>
              <a:ea typeface="Noto Sans KR Black" panose="020B0200000000000000" pitchFamily="50" charset="-127"/>
            </a:endParaRPr>
          </a:p>
        </p:txBody>
      </p:sp>
      <p:sp>
        <p:nvSpPr>
          <p:cNvPr id="8" name="text-84"/>
          <p:cNvSpPr txBox="1"/>
          <p:nvPr/>
        </p:nvSpPr>
        <p:spPr>
          <a:xfrm>
            <a:off x="1097280" y="4251960"/>
            <a:ext cx="2743200" cy="73152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단정한 문장 중 맞은 비율</a:t>
            </a:r>
            <a:endParaRPr lang="ko-KR" sz="1400" dirty="0">
              <a:latin typeface="Noto Sans KR Black" panose="020B0200000000000000" pitchFamily="50" charset="-127"/>
              <a:ea typeface="Noto Sans KR Black" panose="020B0200000000000000" pitchFamily="50" charset="-127"/>
            </a:endParaRPr>
          </a:p>
        </p:txBody>
      </p:sp>
      <p:sp>
        <p:nvSpPr>
          <p:cNvPr id="9" name="card-85"/>
          <p:cNvSpPr/>
          <p:nvPr/>
        </p:nvSpPr>
        <p:spPr>
          <a:xfrm>
            <a:off x="4416552" y="2103120"/>
            <a:ext cx="3364992" cy="3200400"/>
          </a:xfrm>
          <a:prstGeom prst="roundRect">
            <a:avLst>
              <a:gd name="adj" fmla="val 3429"/>
            </a:avLst>
          </a:prstGeom>
          <a:solidFill>
            <a:schemeClr val="bg2"/>
          </a:solidFill>
          <a:ln/>
        </p:spPr>
      </p:sp>
      <p:sp>
        <p:nvSpPr>
          <p:cNvPr id="10" name="text-86"/>
          <p:cNvSpPr txBox="1"/>
          <p:nvPr/>
        </p:nvSpPr>
        <p:spPr>
          <a:xfrm>
            <a:off x="4736592" y="2377440"/>
            <a:ext cx="2743200" cy="320040"/>
          </a:xfrm>
          <a:prstGeom prst="rect">
            <a:avLst/>
          </a:prstGeom>
          <a:noFill/>
          <a:ln/>
        </p:spPr>
        <p:txBody>
          <a:bodyPr wrap="square" lIns="0" tIns="0" rIns="0" bIns="0" rtlCol="0" anchor="t"/>
          <a:lstStyle/>
          <a:p>
            <a:pPr marL="0" indent="0">
              <a:buNone/>
            </a:pPr>
            <a:r>
              <a:rPr lang="ko-KR" altLang="en-US" sz="1400" b="1" dirty="0">
                <a:solidFill>
                  <a:schemeClr val="accent3"/>
                </a:solidFill>
                <a:latin typeface="Noto Sans KR Black" panose="020B0200000000000000" pitchFamily="50" charset="-127"/>
                <a:ea typeface="Noto Sans KR Black" panose="020B0200000000000000" pitchFamily="50" charset="-127"/>
              </a:rPr>
              <a:t>50~90%</a:t>
            </a:r>
            <a:endParaRPr lang="ko-KR" sz="1400" dirty="0">
              <a:latin typeface="Noto Sans KR Black" panose="020B0200000000000000" pitchFamily="50" charset="-127"/>
              <a:ea typeface="Noto Sans KR Black" panose="020B0200000000000000" pitchFamily="50" charset="-127"/>
            </a:endParaRPr>
          </a:p>
        </p:txBody>
      </p:sp>
      <p:sp>
        <p:nvSpPr>
          <p:cNvPr id="11" name="text-87"/>
          <p:cNvSpPr txBox="1"/>
          <p:nvPr/>
        </p:nvSpPr>
        <p:spPr>
          <a:xfrm>
            <a:off x="4736592" y="2743200"/>
            <a:ext cx="2743200" cy="914400"/>
          </a:xfrm>
          <a:prstGeom prst="rect">
            <a:avLst/>
          </a:prstGeom>
          <a:noFill/>
          <a:ln/>
        </p:spPr>
        <p:txBody>
          <a:bodyPr wrap="square" lIns="0" tIns="0" rIns="0" bIns="0" rtlCol="0" anchor="t"/>
          <a:lstStyle/>
          <a:p>
            <a:pPr marL="0" indent="0">
              <a:buNone/>
            </a:pPr>
            <a:r>
              <a:rPr lang="ko-KR" altLang="en-US" sz="5400" b="1" dirty="0">
                <a:solidFill>
                  <a:schemeClr val="tx1"/>
                </a:solidFill>
                <a:latin typeface="Noto Sans KR Black" panose="020B0200000000000000" pitchFamily="50" charset="-127"/>
                <a:ea typeface="Noto Sans KR Black" panose="020B0200000000000000" pitchFamily="50" charset="-127"/>
              </a:rPr>
              <a:t>74%</a:t>
            </a:r>
            <a:endParaRPr lang="ko-KR" sz="5400" dirty="0">
              <a:latin typeface="Noto Sans KR Black" panose="020B0200000000000000" pitchFamily="50" charset="-127"/>
              <a:ea typeface="Noto Sans KR Black" panose="020B0200000000000000" pitchFamily="50" charset="-127"/>
            </a:endParaRPr>
          </a:p>
        </p:txBody>
      </p:sp>
      <p:sp>
        <p:nvSpPr>
          <p:cNvPr id="12" name="text-88"/>
          <p:cNvSpPr txBox="1"/>
          <p:nvPr/>
        </p:nvSpPr>
        <p:spPr>
          <a:xfrm>
            <a:off x="4736592" y="3794760"/>
            <a:ext cx="2743200" cy="365760"/>
          </a:xfrm>
          <a:prstGeom prst="rect">
            <a:avLst/>
          </a:prstGeom>
          <a:noFill/>
          <a:ln/>
        </p:spPr>
        <p:txBody>
          <a:bodyPr wrap="square" lIns="0" tIns="0" rIns="0" bIns="0" rtlCol="0" anchor="t"/>
          <a:lstStyle/>
          <a:p>
            <a:pPr marL="0" indent="0">
              <a:buNone/>
            </a:pPr>
            <a:r>
              <a:rPr lang="ko-KR" altLang="en-US" sz="1800" b="1" dirty="0">
                <a:solidFill>
                  <a:schemeClr val="tx1"/>
                </a:solidFill>
                <a:latin typeface="Noto Sans KR Black" panose="020B0200000000000000" pitchFamily="50" charset="-127"/>
                <a:ea typeface="Noto Sans KR Black" panose="020B0200000000000000" pitchFamily="50" charset="-127"/>
              </a:rPr>
              <a:t>"~로 보여요"</a:t>
            </a:r>
            <a:endParaRPr lang="ko-KR" sz="1800" dirty="0">
              <a:latin typeface="Noto Sans KR Black" panose="020B0200000000000000" pitchFamily="50" charset="-127"/>
              <a:ea typeface="Noto Sans KR Black" panose="020B0200000000000000" pitchFamily="50" charset="-127"/>
            </a:endParaRPr>
          </a:p>
        </p:txBody>
      </p:sp>
      <p:sp>
        <p:nvSpPr>
          <p:cNvPr id="13" name="text-89"/>
          <p:cNvSpPr txBox="1"/>
          <p:nvPr/>
        </p:nvSpPr>
        <p:spPr>
          <a:xfrm>
            <a:off x="4736592" y="4251960"/>
            <a:ext cx="2743200" cy="73152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가능성이 높을 때만 문장에 넣음</a:t>
            </a:r>
            <a:endParaRPr lang="ko-KR" sz="1400" dirty="0">
              <a:latin typeface="Noto Sans KR Black" panose="020B0200000000000000" pitchFamily="50" charset="-127"/>
              <a:ea typeface="Noto Sans KR Black" panose="020B0200000000000000" pitchFamily="50" charset="-127"/>
            </a:endParaRPr>
          </a:p>
        </p:txBody>
      </p:sp>
      <p:sp>
        <p:nvSpPr>
          <p:cNvPr id="14" name="card-90"/>
          <p:cNvSpPr/>
          <p:nvPr/>
        </p:nvSpPr>
        <p:spPr>
          <a:xfrm>
            <a:off x="8055864" y="2103120"/>
            <a:ext cx="3364992" cy="3200400"/>
          </a:xfrm>
          <a:prstGeom prst="roundRect">
            <a:avLst>
              <a:gd name="adj" fmla="val 3429"/>
            </a:avLst>
          </a:prstGeom>
          <a:solidFill>
            <a:schemeClr val="bg2"/>
          </a:solidFill>
          <a:ln/>
        </p:spPr>
      </p:sp>
      <p:sp>
        <p:nvSpPr>
          <p:cNvPr id="15" name="text-91"/>
          <p:cNvSpPr txBox="1"/>
          <p:nvPr/>
        </p:nvSpPr>
        <p:spPr>
          <a:xfrm>
            <a:off x="8375904" y="2377440"/>
            <a:ext cx="2743200" cy="320040"/>
          </a:xfrm>
          <a:prstGeom prst="rect">
            <a:avLst/>
          </a:prstGeom>
          <a:noFill/>
          <a:ln/>
        </p:spPr>
        <p:txBody>
          <a:bodyPr wrap="square" lIns="0" tIns="0" rIns="0" bIns="0" rtlCol="0" anchor="t"/>
          <a:lstStyle/>
          <a:p>
            <a:pPr marL="0" indent="0">
              <a:buNone/>
            </a:pPr>
            <a:r>
              <a:rPr lang="ko-KR" altLang="en-US" sz="1400" b="1" dirty="0">
                <a:solidFill>
                  <a:schemeClr val="accent3"/>
                </a:solidFill>
                <a:latin typeface="Noto Sans KR Black" panose="020B0200000000000000" pitchFamily="50" charset="-127"/>
                <a:ea typeface="Noto Sans KR Black" panose="020B0200000000000000" pitchFamily="50" charset="-127"/>
              </a:rPr>
              <a:t>50% 미만</a:t>
            </a:r>
            <a:endParaRPr lang="ko-KR" sz="1400" dirty="0">
              <a:latin typeface="Noto Sans KR Black" panose="020B0200000000000000" pitchFamily="50" charset="-127"/>
              <a:ea typeface="Noto Sans KR Black" panose="020B0200000000000000" pitchFamily="50" charset="-127"/>
            </a:endParaRPr>
          </a:p>
        </p:txBody>
      </p:sp>
      <p:sp>
        <p:nvSpPr>
          <p:cNvPr id="16" name="text-92"/>
          <p:cNvSpPr txBox="1"/>
          <p:nvPr/>
        </p:nvSpPr>
        <p:spPr>
          <a:xfrm>
            <a:off x="8375904" y="2743200"/>
            <a:ext cx="2743200" cy="914400"/>
          </a:xfrm>
          <a:prstGeom prst="rect">
            <a:avLst/>
          </a:prstGeom>
          <a:noFill/>
          <a:ln/>
        </p:spPr>
        <p:txBody>
          <a:bodyPr wrap="square" lIns="0" tIns="0" rIns="0" bIns="0" rtlCol="0" anchor="t"/>
          <a:lstStyle/>
          <a:p>
            <a:pPr marL="0" indent="0">
              <a:buNone/>
            </a:pPr>
            <a:r>
              <a:rPr lang="ko-KR" altLang="en-US" sz="5400" b="1" dirty="0">
                <a:solidFill>
                  <a:schemeClr val="accent4"/>
                </a:solidFill>
                <a:latin typeface="Noto Sans KR Black" panose="020B0200000000000000" pitchFamily="50" charset="-127"/>
                <a:ea typeface="Noto Sans KR Black" panose="020B0200000000000000" pitchFamily="50" charset="-127"/>
              </a:rPr>
              <a:t>48%</a:t>
            </a:r>
            <a:endParaRPr lang="ko-KR" sz="5400" dirty="0">
              <a:latin typeface="Noto Sans KR Black" panose="020B0200000000000000" pitchFamily="50" charset="-127"/>
              <a:ea typeface="Noto Sans KR Black" panose="020B0200000000000000" pitchFamily="50" charset="-127"/>
            </a:endParaRPr>
          </a:p>
        </p:txBody>
      </p:sp>
      <p:sp>
        <p:nvSpPr>
          <p:cNvPr id="17" name="text-93"/>
          <p:cNvSpPr txBox="1"/>
          <p:nvPr/>
        </p:nvSpPr>
        <p:spPr>
          <a:xfrm>
            <a:off x="8375904" y="3794760"/>
            <a:ext cx="2743200" cy="365760"/>
          </a:xfrm>
          <a:prstGeom prst="rect">
            <a:avLst/>
          </a:prstGeom>
          <a:noFill/>
          <a:ln/>
        </p:spPr>
        <p:txBody>
          <a:bodyPr wrap="square" lIns="0" tIns="0" rIns="0" bIns="0" rtlCol="0" anchor="t"/>
          <a:lstStyle/>
          <a:p>
            <a:pPr marL="0" indent="0">
              <a:buNone/>
            </a:pPr>
            <a:r>
              <a:rPr lang="ko-KR" altLang="en-US" sz="1800" b="1" dirty="0">
                <a:solidFill>
                  <a:schemeClr val="tx1"/>
                </a:solidFill>
                <a:latin typeface="Noto Sans KR Black" panose="020B0200000000000000" pitchFamily="50" charset="-127"/>
                <a:ea typeface="Noto Sans KR Black" panose="020B0200000000000000" pitchFamily="50" charset="-127"/>
              </a:rPr>
              <a:t>문장에서 뺌</a:t>
            </a:r>
            <a:endParaRPr lang="ko-KR" sz="1800" dirty="0">
              <a:latin typeface="Noto Sans KR Black" panose="020B0200000000000000" pitchFamily="50" charset="-127"/>
              <a:ea typeface="Noto Sans KR Black" panose="020B0200000000000000" pitchFamily="50" charset="-127"/>
            </a:endParaRPr>
          </a:p>
        </p:txBody>
      </p:sp>
      <p:sp>
        <p:nvSpPr>
          <p:cNvPr id="18" name="text-94"/>
          <p:cNvSpPr txBox="1"/>
          <p:nvPr/>
        </p:nvSpPr>
        <p:spPr>
          <a:xfrm>
            <a:off x="8375904" y="4251960"/>
            <a:ext cx="2743200" cy="73152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믿기 어려우니 후보 막대로만 보여 줌</a:t>
            </a:r>
            <a:endParaRPr lang="ko-KR" sz="1400" dirty="0">
              <a:latin typeface="Noto Sans KR Black" panose="020B0200000000000000" pitchFamily="50" charset="-127"/>
              <a:ea typeface="Noto Sans KR Black" panose="020B0200000000000000" pitchFamily="50" charset="-127"/>
            </a:endParaRPr>
          </a:p>
        </p:txBody>
      </p:sp>
      <p:sp>
        <p:nvSpPr>
          <p:cNvPr id="19" name="text-95"/>
          <p:cNvSpPr txBox="1"/>
          <p:nvPr/>
        </p:nvSpPr>
        <p:spPr>
          <a:xfrm>
            <a:off x="777240" y="5532120"/>
            <a:ext cx="10637215" cy="320040"/>
          </a:xfrm>
          <a:prstGeom prst="rect">
            <a:avLst/>
          </a:prstGeom>
          <a:noFill/>
          <a:ln/>
        </p:spPr>
        <p:txBody>
          <a:bodyPr wrap="square" lIns="0" tIns="0" rIns="0" bIns="0" rtlCol="0" anchor="t"/>
          <a:lstStyle/>
          <a:p>
            <a:pPr marL="0" indent="0">
              <a:buNone/>
            </a:pPr>
            <a:r>
              <a:rPr lang="ko-KR" altLang="en-US" sz="1100" dirty="0">
                <a:solidFill>
                  <a:schemeClr val="accent4"/>
                </a:solidFill>
                <a:latin typeface="Noto Sans KR Black" panose="020B0200000000000000" pitchFamily="50" charset="-127"/>
                <a:ea typeface="Noto Sans KR Black" panose="020B0200000000000000" pitchFamily="50" charset="-127"/>
              </a:rPr>
              <a:t>학습에 쓰지 않은 사진으로 잰 적중률 · 기본 모델 96.3% / 73.5% / 47.5%, 정밀 모델 96.9% / 74.5% / 47.6%</a:t>
            </a:r>
            <a:endParaRPr lang="ko-KR" sz="1100" dirty="0">
              <a:latin typeface="Noto Sans KR Black" panose="020B0200000000000000" pitchFamily="50" charset="-127"/>
              <a:ea typeface="Noto Sans KR Black" panose="020B0200000000000000" pitchFamily="50" charset="-127"/>
            </a:endParaRPr>
          </a:p>
        </p:txBody>
      </p:sp>
      <p:sp>
        <p:nvSpPr>
          <p:cNvPr id="2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latin typeface="Noto Sans KR Black" panose="020B0200000000000000" pitchFamily="50" charset="-127"/>
                <a:ea typeface="Noto Sans KR Black" panose="020B0200000000000000" pitchFamily="50" charset="-127"/>
              </a:rPr>
              <a:t>9</a:t>
            </a:fld>
            <a:endParaRPr lang="en-US">
              <a:latin typeface="Noto Sans KR Black" panose="020B0200000000000000" pitchFamily="50" charset="-127"/>
              <a:ea typeface="Noto Sans KR Black" panose="020B0200000000000000" pitchFamily="50" charset="-127"/>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548640"/>
            <a:ext cx="10637215" cy="777240"/>
          </a:xfrm>
          <a:prstGeom prst="rect">
            <a:avLst/>
          </a:prstGeom>
          <a:noFill/>
          <a:ln/>
        </p:spPr>
        <p:txBody>
          <a:bodyPr wrap="square" lIns="0" tIns="0" rIns="0" bIns="0" rtlCol="0" anchor="t"/>
          <a:lstStyle/>
          <a:p>
            <a:pPr marL="0" indent="0" algn="l">
              <a:buNone/>
            </a:pPr>
            <a:r>
              <a:rPr lang="ko-KR" altLang="en-US" sz="3600" b="1" dirty="0">
                <a:solidFill>
                  <a:schemeClr val="tx1"/>
                </a:solidFill>
                <a:latin typeface="Noto Sans KR Black" panose="020B0200000000000000" pitchFamily="50" charset="-127"/>
                <a:ea typeface="Noto Sans KR Black" panose="020B0200000000000000" pitchFamily="50" charset="-127"/>
              </a:rPr>
              <a:t>결과: 53% → 75%</a:t>
            </a:r>
            <a:endParaRPr lang="ko-KR" sz="3600" dirty="0">
              <a:latin typeface="Noto Sans KR Black" panose="020B0200000000000000" pitchFamily="50" charset="-127"/>
              <a:ea typeface="Noto Sans KR Black" panose="020B0200000000000000" pitchFamily="50" charset="-127"/>
            </a:endParaRPr>
          </a:p>
        </p:txBody>
      </p:sp>
      <p:graphicFrame>
        <p:nvGraphicFramePr>
          <p:cNvPr id="3" name="chart-96"/>
          <p:cNvGraphicFramePr/>
          <p:nvPr>
            <p:extLst>
              <p:ext uri="{D42A27DB-BD31-4B8C-83A1-F6EECF244321}">
                <p14:modId xmlns:p14="http://schemas.microsoft.com/office/powerpoint/2010/main" val="3342882380"/>
              </p:ext>
            </p:extLst>
          </p:nvPr>
        </p:nvGraphicFramePr>
        <p:xfrm>
          <a:off x="777240" y="1508760"/>
          <a:ext cx="685800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4" name="card-97"/>
          <p:cNvSpPr/>
          <p:nvPr/>
        </p:nvSpPr>
        <p:spPr>
          <a:xfrm>
            <a:off x="8001000" y="1600200"/>
            <a:ext cx="3410712" cy="2011680"/>
          </a:xfrm>
          <a:prstGeom prst="roundRect">
            <a:avLst>
              <a:gd name="adj" fmla="val 5455"/>
            </a:avLst>
          </a:prstGeom>
          <a:solidFill>
            <a:schemeClr val="bg1"/>
          </a:solidFill>
          <a:ln/>
        </p:spPr>
      </p:sp>
      <p:sp>
        <p:nvSpPr>
          <p:cNvPr id="5" name="text-98"/>
          <p:cNvSpPr txBox="1"/>
          <p:nvPr/>
        </p:nvSpPr>
        <p:spPr>
          <a:xfrm>
            <a:off x="8275320" y="1801368"/>
            <a:ext cx="2862072" cy="365760"/>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모델 6종 비교</a:t>
            </a:r>
            <a:endParaRPr lang="ko-KR" sz="1600" dirty="0">
              <a:latin typeface="Noto Sans KR Black" panose="020B0200000000000000" pitchFamily="50" charset="-127"/>
              <a:ea typeface="Noto Sans KR Black" panose="020B0200000000000000" pitchFamily="50" charset="-127"/>
            </a:endParaRPr>
          </a:p>
        </p:txBody>
      </p:sp>
      <p:sp>
        <p:nvSpPr>
          <p:cNvPr id="6" name="text-99"/>
          <p:cNvSpPr txBox="1"/>
          <p:nvPr/>
        </p:nvSpPr>
        <p:spPr>
          <a:xfrm>
            <a:off x="8275320" y="2240280"/>
            <a:ext cx="2862072" cy="1234440"/>
          </a:xfrm>
          <a:prstGeom prst="rect">
            <a:avLst/>
          </a:prstGeom>
          <a:noFill/>
          <a:ln/>
        </p:spPr>
        <p:txBody>
          <a:bodyPr wrap="square" lIns="0" tIns="0" rIns="0" bIns="0" rtlCol="0" anchor="t"/>
          <a:lstStyle/>
          <a:p>
            <a:pPr marL="0" indent="0">
              <a:lnSpc>
                <a:spcPct val="110000"/>
              </a:lnSpc>
              <a:buNone/>
            </a:pPr>
            <a:r>
              <a:rPr lang="ko-KR" altLang="en-US" sz="1400" dirty="0">
                <a:solidFill>
                  <a:schemeClr val="tx2"/>
                </a:solidFill>
                <a:latin typeface="Noto Sans KR Black" panose="020B0200000000000000" pitchFamily="50" charset="-127"/>
                <a:ea typeface="Noto Sans KR Black" panose="020B0200000000000000" pitchFamily="50" charset="-127"/>
              </a:rPr>
              <a:t>CLIP · SigLIP · FashionSigLIP 등을 같은 시험 사진으로 비교해 기본 모델을 골랐습니다.</a:t>
            </a:r>
            <a:endParaRPr lang="ko-KR" sz="1400" dirty="0">
              <a:latin typeface="Noto Sans KR Black" panose="020B0200000000000000" pitchFamily="50" charset="-127"/>
              <a:ea typeface="Noto Sans KR Black" panose="020B0200000000000000" pitchFamily="50" charset="-127"/>
            </a:endParaRPr>
          </a:p>
        </p:txBody>
      </p:sp>
      <p:sp>
        <p:nvSpPr>
          <p:cNvPr id="7" name="card-100"/>
          <p:cNvSpPr/>
          <p:nvPr/>
        </p:nvSpPr>
        <p:spPr>
          <a:xfrm>
            <a:off x="8001000" y="3794760"/>
            <a:ext cx="3410712" cy="2240280"/>
          </a:xfrm>
          <a:prstGeom prst="roundRect">
            <a:avLst>
              <a:gd name="adj" fmla="val 4898"/>
            </a:avLst>
          </a:prstGeom>
          <a:solidFill>
            <a:schemeClr val="bg1"/>
          </a:solidFill>
          <a:ln/>
        </p:spPr>
      </p:sp>
      <p:sp>
        <p:nvSpPr>
          <p:cNvPr id="8" name="text-101"/>
          <p:cNvSpPr txBox="1"/>
          <p:nvPr/>
        </p:nvSpPr>
        <p:spPr>
          <a:xfrm>
            <a:off x="8275320" y="3977640"/>
            <a:ext cx="2862072" cy="594360"/>
          </a:xfrm>
          <a:prstGeom prst="rect">
            <a:avLst/>
          </a:prstGeom>
          <a:noFill/>
          <a:ln/>
        </p:spPr>
        <p:txBody>
          <a:bodyPr wrap="square" lIns="0" tIns="0" rIns="0" bIns="0" rtlCol="0" anchor="t"/>
          <a:lstStyle/>
          <a:p>
            <a:pPr marL="0" indent="0">
              <a:buNone/>
            </a:pPr>
            <a:r>
              <a:rPr lang="ko-KR" altLang="en-US" sz="3600" b="1" dirty="0">
                <a:solidFill>
                  <a:schemeClr val="accent3"/>
                </a:solidFill>
                <a:latin typeface="Noto Sans KR Black" panose="020B0200000000000000" pitchFamily="50" charset="-127"/>
                <a:ea typeface="Noto Sans KR Black" panose="020B0200000000000000" pitchFamily="50" charset="-127"/>
              </a:rPr>
              <a:t>92%</a:t>
            </a:r>
            <a:endParaRPr lang="ko-KR" sz="3600" dirty="0">
              <a:latin typeface="Noto Sans KR Black" panose="020B0200000000000000" pitchFamily="50" charset="-127"/>
              <a:ea typeface="Noto Sans KR Black" panose="020B0200000000000000" pitchFamily="50" charset="-127"/>
            </a:endParaRPr>
          </a:p>
        </p:txBody>
      </p:sp>
      <p:sp>
        <p:nvSpPr>
          <p:cNvPr id="9" name="text-102"/>
          <p:cNvSpPr txBox="1"/>
          <p:nvPr/>
        </p:nvSpPr>
        <p:spPr>
          <a:xfrm>
            <a:off x="8275320" y="4617720"/>
            <a:ext cx="2862072" cy="1280160"/>
          </a:xfrm>
          <a:prstGeom prst="rect">
            <a:avLst/>
          </a:prstGeom>
          <a:noFill/>
          <a:ln/>
        </p:spPr>
        <p:txBody>
          <a:bodyPr wrap="square" lIns="0" tIns="0" rIns="0" bIns="0" rtlCol="0" anchor="t"/>
          <a:lstStyle/>
          <a:p>
            <a:pPr marL="0" indent="0">
              <a:lnSpc>
                <a:spcPct val="110000"/>
              </a:lnSpc>
              <a:buNone/>
            </a:pPr>
            <a:r>
              <a:rPr lang="ko-KR" altLang="en-US" sz="1400" dirty="0">
                <a:solidFill>
                  <a:schemeClr val="tx2"/>
                </a:solidFill>
                <a:latin typeface="Noto Sans KR Black" panose="020B0200000000000000" pitchFamily="50" charset="-127"/>
                <a:ea typeface="Noto Sans KR Black" panose="020B0200000000000000" pitchFamily="50" charset="-127"/>
              </a:rPr>
              <a:t>같은 사진을 두 라벨러가 따로 판정해도 92% 만 일치합니다. 사실상 상한입니다.</a:t>
            </a:r>
            <a:endParaRPr lang="ko-KR" sz="1400" dirty="0">
              <a:latin typeface="Noto Sans KR Black" panose="020B0200000000000000" pitchFamily="50" charset="-127"/>
              <a:ea typeface="Noto Sans KR Black" panose="020B0200000000000000" pitchFamily="50" charset="-127"/>
            </a:endParaRPr>
          </a:p>
        </p:txBody>
      </p:sp>
      <p:sp>
        <p:nvSpPr>
          <p:cNvPr id="2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latin typeface="Noto Sans KR Black" panose="020B0200000000000000" pitchFamily="50" charset="-127"/>
                <a:ea typeface="Noto Sans KR Black" panose="020B0200000000000000" pitchFamily="50" charset="-127"/>
              </a:rPr>
              <a:t>10</a:t>
            </a:fld>
            <a:endParaRPr lang="en-US">
              <a:latin typeface="Noto Sans KR Black" panose="020B0200000000000000" pitchFamily="50" charset="-127"/>
              <a:ea typeface="Noto Sans KR Black" panose="020B0200000000000000" pitchFamily="50" charset="-127"/>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548640"/>
            <a:ext cx="10637215" cy="777240"/>
          </a:xfrm>
          <a:prstGeom prst="rect">
            <a:avLst/>
          </a:prstGeom>
          <a:noFill/>
          <a:ln/>
        </p:spPr>
        <p:txBody>
          <a:bodyPr wrap="square" lIns="0" tIns="0" rIns="0" bIns="0" rtlCol="0" anchor="t"/>
          <a:lstStyle/>
          <a:p>
            <a:pPr marL="0" indent="0" algn="l">
              <a:buNone/>
            </a:pPr>
            <a:r>
              <a:rPr lang="ko-KR" altLang="en-US" sz="3600" b="1" dirty="0">
                <a:solidFill>
                  <a:schemeClr val="tx1"/>
                </a:solidFill>
                <a:latin typeface="Noto Sans KR Black" panose="020B0200000000000000" pitchFamily="50" charset="-127"/>
                <a:ea typeface="Noto Sans KR Black" panose="020B0200000000000000" pitchFamily="50" charset="-127"/>
              </a:rPr>
              <a:t>배운 점: 라벨의 질이 양보다 중요했다</a:t>
            </a:r>
            <a:endParaRPr lang="ko-KR" sz="3600" dirty="0">
              <a:latin typeface="Noto Sans KR Black" panose="020B0200000000000000" pitchFamily="50" charset="-127"/>
              <a:ea typeface="Noto Sans KR Black" panose="020B0200000000000000" pitchFamily="50" charset="-127"/>
            </a:endParaRPr>
          </a:p>
        </p:txBody>
      </p:sp>
      <p:sp>
        <p:nvSpPr>
          <p:cNvPr id="3" name="card-103"/>
          <p:cNvSpPr/>
          <p:nvPr/>
        </p:nvSpPr>
        <p:spPr>
          <a:xfrm>
            <a:off x="777240" y="1645920"/>
            <a:ext cx="3364992" cy="2971800"/>
          </a:xfrm>
          <a:prstGeom prst="roundRect">
            <a:avLst>
              <a:gd name="adj" fmla="val 3692"/>
            </a:avLst>
          </a:prstGeom>
          <a:solidFill>
            <a:schemeClr val="bg2"/>
          </a:solidFill>
          <a:ln/>
        </p:spPr>
      </p:sp>
      <p:sp>
        <p:nvSpPr>
          <p:cNvPr id="4" name="text-104"/>
          <p:cNvSpPr txBox="1"/>
          <p:nvPr/>
        </p:nvSpPr>
        <p:spPr>
          <a:xfrm>
            <a:off x="1097280" y="1920240"/>
            <a:ext cx="2743200" cy="365760"/>
          </a:xfrm>
          <a:prstGeom prst="rect">
            <a:avLst/>
          </a:prstGeom>
          <a:noFill/>
          <a:ln/>
        </p:spPr>
        <p:txBody>
          <a:bodyPr wrap="square" lIns="0" tIns="0" rIns="0" bIns="0" rtlCol="0" anchor="t"/>
          <a:lstStyle/>
          <a:p>
            <a:pPr marL="0" indent="0">
              <a:buNone/>
            </a:pPr>
            <a:r>
              <a:rPr lang="ko-KR" altLang="en-US" sz="1600" b="1" dirty="0">
                <a:solidFill>
                  <a:schemeClr val="accent3"/>
                </a:solidFill>
                <a:latin typeface="Noto Sans KR Black" panose="020B0200000000000000" pitchFamily="50" charset="-127"/>
                <a:ea typeface="Noto Sans KR Black" panose="020B0200000000000000" pitchFamily="50" charset="-127"/>
              </a:rPr>
              <a:t>검색어로 자동 라벨</a:t>
            </a:r>
            <a:endParaRPr lang="ko-KR" sz="1600" dirty="0">
              <a:latin typeface="Noto Sans KR Black" panose="020B0200000000000000" pitchFamily="50" charset="-127"/>
              <a:ea typeface="Noto Sans KR Black" panose="020B0200000000000000" pitchFamily="50" charset="-127"/>
            </a:endParaRPr>
          </a:p>
        </p:txBody>
      </p:sp>
      <p:sp>
        <p:nvSpPr>
          <p:cNvPr id="5" name="text-105"/>
          <p:cNvSpPr txBox="1"/>
          <p:nvPr/>
        </p:nvSpPr>
        <p:spPr>
          <a:xfrm>
            <a:off x="1097280" y="2304288"/>
            <a:ext cx="2743200" cy="32004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사진 1만 장</a:t>
            </a:r>
            <a:endParaRPr lang="ko-KR" sz="1400" dirty="0">
              <a:latin typeface="Noto Sans KR Black" panose="020B0200000000000000" pitchFamily="50" charset="-127"/>
              <a:ea typeface="Noto Sans KR Black" panose="020B0200000000000000" pitchFamily="50" charset="-127"/>
            </a:endParaRPr>
          </a:p>
        </p:txBody>
      </p:sp>
      <p:sp>
        <p:nvSpPr>
          <p:cNvPr id="6" name="text-106"/>
          <p:cNvSpPr txBox="1"/>
          <p:nvPr/>
        </p:nvSpPr>
        <p:spPr>
          <a:xfrm>
            <a:off x="1097280" y="2743200"/>
            <a:ext cx="2743200" cy="731520"/>
          </a:xfrm>
          <a:prstGeom prst="rect">
            <a:avLst/>
          </a:prstGeom>
          <a:noFill/>
          <a:ln/>
        </p:spPr>
        <p:txBody>
          <a:bodyPr wrap="square" lIns="0" tIns="0" rIns="0" bIns="0" rtlCol="0" anchor="t"/>
          <a:lstStyle/>
          <a:p>
            <a:pPr marL="0" indent="0">
              <a:buNone/>
            </a:pPr>
            <a:r>
              <a:rPr lang="ko-KR" altLang="en-US" sz="4000" b="1" dirty="0">
                <a:solidFill>
                  <a:schemeClr val="accent4"/>
                </a:solidFill>
                <a:latin typeface="Noto Sans KR Black" panose="020B0200000000000000" pitchFamily="50" charset="-127"/>
                <a:ea typeface="Noto Sans KR Black" panose="020B0200000000000000" pitchFamily="50" charset="-127"/>
              </a:rPr>
              <a:t>−0.5%p</a:t>
            </a:r>
            <a:endParaRPr lang="ko-KR" sz="4000" dirty="0">
              <a:latin typeface="Noto Sans KR Black" panose="020B0200000000000000" pitchFamily="50" charset="-127"/>
              <a:ea typeface="Noto Sans KR Black" panose="020B0200000000000000" pitchFamily="50" charset="-127"/>
            </a:endParaRPr>
          </a:p>
        </p:txBody>
      </p:sp>
      <p:sp>
        <p:nvSpPr>
          <p:cNvPr id="7" name="text-107"/>
          <p:cNvSpPr txBox="1"/>
          <p:nvPr/>
        </p:nvSpPr>
        <p:spPr>
          <a:xfrm>
            <a:off x="1097280" y="3611880"/>
            <a:ext cx="2743200" cy="731520"/>
          </a:xfrm>
          <a:prstGeom prst="rect">
            <a:avLst/>
          </a:prstGeom>
          <a:noFill/>
          <a:ln/>
        </p:spPr>
        <p:txBody>
          <a:bodyPr wrap="square" lIns="0" tIns="0" rIns="0" bIns="0" rtlCol="0" anchor="t"/>
          <a:lstStyle/>
          <a:p>
            <a:pPr marL="0" indent="0">
              <a:buNone/>
            </a:pPr>
            <a:r>
              <a:rPr lang="ko-KR" altLang="en-US" sz="1400" dirty="0">
                <a:solidFill>
                  <a:schemeClr val="tx1"/>
                </a:solidFill>
                <a:latin typeface="Noto Sans KR Black" panose="020B0200000000000000" pitchFamily="50" charset="-127"/>
                <a:ea typeface="Noto Sans KR Black" panose="020B0200000000000000" pitchFamily="50" charset="-127"/>
              </a:rPr>
              <a:t>73.9% → 73.4%, 효과 없음</a:t>
            </a:r>
            <a:endParaRPr lang="ko-KR" sz="1400" dirty="0">
              <a:latin typeface="Noto Sans KR Black" panose="020B0200000000000000" pitchFamily="50" charset="-127"/>
              <a:ea typeface="Noto Sans KR Black" panose="020B0200000000000000" pitchFamily="50" charset="-127"/>
            </a:endParaRPr>
          </a:p>
        </p:txBody>
      </p:sp>
      <p:sp>
        <p:nvSpPr>
          <p:cNvPr id="8" name="card-108"/>
          <p:cNvSpPr/>
          <p:nvPr/>
        </p:nvSpPr>
        <p:spPr>
          <a:xfrm>
            <a:off x="4416552" y="1645920"/>
            <a:ext cx="3364992" cy="2971800"/>
          </a:xfrm>
          <a:prstGeom prst="roundRect">
            <a:avLst>
              <a:gd name="adj" fmla="val 3692"/>
            </a:avLst>
          </a:prstGeom>
          <a:solidFill>
            <a:schemeClr val="bg2"/>
          </a:solidFill>
          <a:ln w="25400">
            <a:solidFill>
              <a:schemeClr val="accent2"/>
            </a:solidFill>
            <a:prstDash val="solid"/>
          </a:ln>
        </p:spPr>
      </p:sp>
      <p:sp>
        <p:nvSpPr>
          <p:cNvPr id="9" name="text-109"/>
          <p:cNvSpPr txBox="1"/>
          <p:nvPr/>
        </p:nvSpPr>
        <p:spPr>
          <a:xfrm>
            <a:off x="4736592" y="1920240"/>
            <a:ext cx="2743200" cy="365760"/>
          </a:xfrm>
          <a:prstGeom prst="rect">
            <a:avLst/>
          </a:prstGeom>
          <a:noFill/>
          <a:ln/>
        </p:spPr>
        <p:txBody>
          <a:bodyPr wrap="square" lIns="0" tIns="0" rIns="0" bIns="0" rtlCol="0" anchor="t"/>
          <a:lstStyle/>
          <a:p>
            <a:pPr marL="0" indent="0">
              <a:buNone/>
            </a:pPr>
            <a:r>
              <a:rPr lang="ko-KR" altLang="en-US" sz="1600" b="1" dirty="0">
                <a:solidFill>
                  <a:schemeClr val="accent3"/>
                </a:solidFill>
                <a:latin typeface="Noto Sans KR Black" panose="020B0200000000000000" pitchFamily="50" charset="-127"/>
                <a:ea typeface="Noto Sans KR Black" panose="020B0200000000000000" pitchFamily="50" charset="-127"/>
              </a:rPr>
              <a:t>사진을 직접 보고 라벨</a:t>
            </a:r>
            <a:endParaRPr lang="ko-KR" sz="1600" dirty="0">
              <a:latin typeface="Noto Sans KR Black" panose="020B0200000000000000" pitchFamily="50" charset="-127"/>
              <a:ea typeface="Noto Sans KR Black" panose="020B0200000000000000" pitchFamily="50" charset="-127"/>
            </a:endParaRPr>
          </a:p>
        </p:txBody>
      </p:sp>
      <p:sp>
        <p:nvSpPr>
          <p:cNvPr id="10" name="text-110"/>
          <p:cNvSpPr txBox="1"/>
          <p:nvPr/>
        </p:nvSpPr>
        <p:spPr>
          <a:xfrm>
            <a:off x="4736592" y="2304288"/>
            <a:ext cx="2743200" cy="32004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사진 280장</a:t>
            </a:r>
            <a:endParaRPr lang="ko-KR" sz="1400" dirty="0">
              <a:latin typeface="Noto Sans KR Black" panose="020B0200000000000000" pitchFamily="50" charset="-127"/>
              <a:ea typeface="Noto Sans KR Black" panose="020B0200000000000000" pitchFamily="50" charset="-127"/>
            </a:endParaRPr>
          </a:p>
        </p:txBody>
      </p:sp>
      <p:sp>
        <p:nvSpPr>
          <p:cNvPr id="11" name="text-111"/>
          <p:cNvSpPr txBox="1"/>
          <p:nvPr/>
        </p:nvSpPr>
        <p:spPr>
          <a:xfrm>
            <a:off x="4736592" y="2743200"/>
            <a:ext cx="2743200" cy="731520"/>
          </a:xfrm>
          <a:prstGeom prst="rect">
            <a:avLst/>
          </a:prstGeom>
          <a:noFill/>
          <a:ln/>
        </p:spPr>
        <p:txBody>
          <a:bodyPr wrap="square" lIns="0" tIns="0" rIns="0" bIns="0" rtlCol="0" anchor="t"/>
          <a:lstStyle/>
          <a:p>
            <a:pPr marL="0" indent="0">
              <a:buNone/>
            </a:pPr>
            <a:r>
              <a:rPr lang="ko-KR" altLang="en-US" sz="4000" b="1" dirty="0">
                <a:solidFill>
                  <a:schemeClr val="tx1"/>
                </a:solidFill>
                <a:latin typeface="Noto Sans KR Black" panose="020B0200000000000000" pitchFamily="50" charset="-127"/>
                <a:ea typeface="Noto Sans KR Black" panose="020B0200000000000000" pitchFamily="50" charset="-127"/>
              </a:rPr>
              <a:t>+5.9%p</a:t>
            </a:r>
            <a:endParaRPr lang="ko-KR" sz="4000" dirty="0">
              <a:latin typeface="Noto Sans KR Black" panose="020B0200000000000000" pitchFamily="50" charset="-127"/>
              <a:ea typeface="Noto Sans KR Black" panose="020B0200000000000000" pitchFamily="50" charset="-127"/>
            </a:endParaRPr>
          </a:p>
        </p:txBody>
      </p:sp>
      <p:sp>
        <p:nvSpPr>
          <p:cNvPr id="12" name="text-112"/>
          <p:cNvSpPr txBox="1"/>
          <p:nvPr/>
        </p:nvSpPr>
        <p:spPr>
          <a:xfrm>
            <a:off x="4736592" y="3611880"/>
            <a:ext cx="2743200" cy="731520"/>
          </a:xfrm>
          <a:prstGeom prst="rect">
            <a:avLst/>
          </a:prstGeom>
          <a:noFill/>
          <a:ln/>
        </p:spPr>
        <p:txBody>
          <a:bodyPr wrap="square" lIns="0" tIns="0" rIns="0" bIns="0" rtlCol="0" anchor="t"/>
          <a:lstStyle/>
          <a:p>
            <a:pPr marL="0" indent="0">
              <a:buNone/>
            </a:pPr>
            <a:r>
              <a:rPr lang="ko-KR" altLang="en-US" sz="1400" dirty="0">
                <a:solidFill>
                  <a:schemeClr val="tx1"/>
                </a:solidFill>
                <a:latin typeface="Noto Sans KR Black" panose="020B0200000000000000" pitchFamily="50" charset="-127"/>
                <a:ea typeface="Noto Sans KR Black" panose="020B0200000000000000" pitchFamily="50" charset="-127"/>
              </a:rPr>
              <a:t>적은 사진으로 크게 오름</a:t>
            </a:r>
            <a:endParaRPr lang="ko-KR" sz="1400" dirty="0">
              <a:latin typeface="Noto Sans KR Black" panose="020B0200000000000000" pitchFamily="50" charset="-127"/>
              <a:ea typeface="Noto Sans KR Black" panose="020B0200000000000000" pitchFamily="50" charset="-127"/>
            </a:endParaRPr>
          </a:p>
        </p:txBody>
      </p:sp>
      <p:sp>
        <p:nvSpPr>
          <p:cNvPr id="13" name="card-113"/>
          <p:cNvSpPr/>
          <p:nvPr/>
        </p:nvSpPr>
        <p:spPr>
          <a:xfrm>
            <a:off x="8055864" y="1645920"/>
            <a:ext cx="3364992" cy="2971800"/>
          </a:xfrm>
          <a:prstGeom prst="roundRect">
            <a:avLst>
              <a:gd name="adj" fmla="val 3692"/>
            </a:avLst>
          </a:prstGeom>
          <a:solidFill>
            <a:schemeClr val="bg2"/>
          </a:solidFill>
          <a:ln/>
        </p:spPr>
      </p:sp>
      <p:sp>
        <p:nvSpPr>
          <p:cNvPr id="14" name="text-114"/>
          <p:cNvSpPr txBox="1"/>
          <p:nvPr/>
        </p:nvSpPr>
        <p:spPr>
          <a:xfrm>
            <a:off x="8375904" y="1920240"/>
            <a:ext cx="2743200" cy="365760"/>
          </a:xfrm>
          <a:prstGeom prst="rect">
            <a:avLst/>
          </a:prstGeom>
          <a:noFill/>
          <a:ln/>
        </p:spPr>
        <p:txBody>
          <a:bodyPr wrap="square" lIns="0" tIns="0" rIns="0" bIns="0" rtlCol="0" anchor="t"/>
          <a:lstStyle/>
          <a:p>
            <a:pPr marL="0" indent="0">
              <a:buNone/>
            </a:pPr>
            <a:r>
              <a:rPr lang="ko-KR" altLang="en-US" sz="1600" b="1" dirty="0">
                <a:solidFill>
                  <a:schemeClr val="accent3"/>
                </a:solidFill>
                <a:latin typeface="Noto Sans KR Black" panose="020B0200000000000000" pitchFamily="50" charset="-127"/>
                <a:ea typeface="Noto Sans KR Black" panose="020B0200000000000000" pitchFamily="50" charset="-127"/>
              </a:rPr>
              <a:t>한국 스타일 사진</a:t>
            </a:r>
            <a:endParaRPr lang="ko-KR" sz="1600" dirty="0">
              <a:latin typeface="Noto Sans KR Black" panose="020B0200000000000000" pitchFamily="50" charset="-127"/>
              <a:ea typeface="Noto Sans KR Black" panose="020B0200000000000000" pitchFamily="50" charset="-127"/>
            </a:endParaRPr>
          </a:p>
        </p:txBody>
      </p:sp>
      <p:sp>
        <p:nvSpPr>
          <p:cNvPr id="15" name="text-115"/>
          <p:cNvSpPr txBox="1"/>
          <p:nvPr/>
        </p:nvSpPr>
        <p:spPr>
          <a:xfrm>
            <a:off x="8375904" y="2304288"/>
            <a:ext cx="2743200" cy="32004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98장 추가</a:t>
            </a:r>
            <a:endParaRPr lang="ko-KR" sz="1400" dirty="0">
              <a:latin typeface="Noto Sans KR Black" panose="020B0200000000000000" pitchFamily="50" charset="-127"/>
              <a:ea typeface="Noto Sans KR Black" panose="020B0200000000000000" pitchFamily="50" charset="-127"/>
            </a:endParaRPr>
          </a:p>
        </p:txBody>
      </p:sp>
      <p:sp>
        <p:nvSpPr>
          <p:cNvPr id="16" name="text-116"/>
          <p:cNvSpPr txBox="1"/>
          <p:nvPr/>
        </p:nvSpPr>
        <p:spPr>
          <a:xfrm>
            <a:off x="8375904" y="2743200"/>
            <a:ext cx="2743200" cy="731520"/>
          </a:xfrm>
          <a:prstGeom prst="rect">
            <a:avLst/>
          </a:prstGeom>
          <a:noFill/>
          <a:ln/>
        </p:spPr>
        <p:txBody>
          <a:bodyPr wrap="square" lIns="0" tIns="0" rIns="0" bIns="0" rtlCol="0" anchor="t"/>
          <a:lstStyle/>
          <a:p>
            <a:pPr marL="0" indent="0">
              <a:buNone/>
            </a:pPr>
            <a:r>
              <a:rPr lang="ko-KR" altLang="en-US" sz="4000" b="1" dirty="0">
                <a:solidFill>
                  <a:schemeClr val="tx1"/>
                </a:solidFill>
                <a:latin typeface="Noto Sans KR Black" panose="020B0200000000000000" pitchFamily="50" charset="-127"/>
                <a:ea typeface="Noto Sans KR Black" panose="020B0200000000000000" pitchFamily="50" charset="-127"/>
              </a:rPr>
              <a:t>67 → 77%</a:t>
            </a:r>
            <a:endParaRPr lang="ko-KR" sz="4000" dirty="0">
              <a:latin typeface="Noto Sans KR Black" panose="020B0200000000000000" pitchFamily="50" charset="-127"/>
              <a:ea typeface="Noto Sans KR Black" panose="020B0200000000000000" pitchFamily="50" charset="-127"/>
            </a:endParaRPr>
          </a:p>
        </p:txBody>
      </p:sp>
      <p:sp>
        <p:nvSpPr>
          <p:cNvPr id="17" name="text-117"/>
          <p:cNvSpPr txBox="1"/>
          <p:nvPr/>
        </p:nvSpPr>
        <p:spPr>
          <a:xfrm>
            <a:off x="8375904" y="3611880"/>
            <a:ext cx="2743200" cy="731520"/>
          </a:xfrm>
          <a:prstGeom prst="rect">
            <a:avLst/>
          </a:prstGeom>
          <a:noFill/>
          <a:ln/>
        </p:spPr>
        <p:txBody>
          <a:bodyPr wrap="square" lIns="0" tIns="0" rIns="0" bIns="0" rtlCol="0" anchor="t"/>
          <a:lstStyle/>
          <a:p>
            <a:pPr marL="0" indent="0">
              <a:buNone/>
            </a:pPr>
            <a:r>
              <a:rPr lang="ko-KR" altLang="en-US" sz="1400" dirty="0">
                <a:solidFill>
                  <a:schemeClr val="tx1"/>
                </a:solidFill>
                <a:latin typeface="Noto Sans KR Black" panose="020B0200000000000000" pitchFamily="50" charset="-127"/>
                <a:ea typeface="Noto Sans KR Black" panose="020B0200000000000000" pitchFamily="50" charset="-127"/>
              </a:rPr>
              <a:t>한국 사진 정확도 (v1 기준)</a:t>
            </a:r>
            <a:endParaRPr lang="ko-KR" sz="1400" dirty="0">
              <a:latin typeface="Noto Sans KR Black" panose="020B0200000000000000" pitchFamily="50" charset="-127"/>
              <a:ea typeface="Noto Sans KR Black" panose="020B0200000000000000" pitchFamily="50" charset="-127"/>
            </a:endParaRPr>
          </a:p>
        </p:txBody>
      </p:sp>
      <p:sp>
        <p:nvSpPr>
          <p:cNvPr id="18" name="text-118"/>
          <p:cNvSpPr txBox="1"/>
          <p:nvPr/>
        </p:nvSpPr>
        <p:spPr>
          <a:xfrm>
            <a:off x="777240" y="4892040"/>
            <a:ext cx="10637215" cy="914400"/>
          </a:xfrm>
          <a:prstGeom prst="rect">
            <a:avLst/>
          </a:prstGeom>
          <a:noFill/>
          <a:ln/>
        </p:spPr>
        <p:txBody>
          <a:bodyPr wrap="square" lIns="0" tIns="0" rIns="0" bIns="0" rtlCol="0" anchor="t"/>
          <a:lstStyle/>
          <a:p>
            <a:pPr marL="0" indent="0">
              <a:lnSpc>
                <a:spcPct val="120000"/>
              </a:lnSpc>
              <a:buNone/>
            </a:pPr>
            <a:r>
              <a:rPr lang="ko-KR" altLang="en-US" sz="1600" dirty="0">
                <a:solidFill>
                  <a:schemeClr val="tx2"/>
                </a:solidFill>
                <a:latin typeface="Noto Sans KR Black" panose="020B0200000000000000" pitchFamily="50" charset="-127"/>
                <a:ea typeface="Noto Sans KR Black" panose="020B0200000000000000" pitchFamily="50" charset="-127"/>
              </a:rPr>
              <a:t>실제로 쓰일 사진과 비슷한 데이터를, 기준을 맞춰 정확하게 다는 것이 가장 효과가 컸습니다.</a:t>
            </a:r>
            <a:endParaRPr lang="en-US" altLang="ko-KR" sz="1600" dirty="0">
              <a:solidFill>
                <a:schemeClr val="tx2"/>
              </a:solidFill>
              <a:latin typeface="Noto Sans KR Black" panose="020B0200000000000000" pitchFamily="50" charset="-127"/>
              <a:ea typeface="Noto Sans KR Black" panose="020B0200000000000000" pitchFamily="50" charset="-127"/>
            </a:endParaRPr>
          </a:p>
          <a:p>
            <a:pPr marL="0" indent="0">
              <a:lnSpc>
                <a:spcPct val="120000"/>
              </a:lnSpc>
              <a:buNone/>
            </a:pPr>
            <a:r>
              <a:rPr lang="ko-KR" altLang="en-US" sz="1600" dirty="0">
                <a:solidFill>
                  <a:schemeClr val="tx2"/>
                </a:solidFill>
                <a:latin typeface="Noto Sans KR Black" panose="020B0200000000000000" pitchFamily="50" charset="-127"/>
                <a:ea typeface="Noto Sans KR Black" panose="020B0200000000000000" pitchFamily="50" charset="-127"/>
              </a:rPr>
              <a:t>기준이 다른 라벨은 섞으면 오히려 떨어져서 항목마다 효과를 재서 골라 썼습니다.</a:t>
            </a:r>
            <a:endParaRPr lang="ko-KR" sz="1600" dirty="0">
              <a:latin typeface="Noto Sans KR Black" panose="020B0200000000000000" pitchFamily="50" charset="-127"/>
              <a:ea typeface="Noto Sans KR Black" panose="020B0200000000000000" pitchFamily="50" charset="-127"/>
            </a:endParaRPr>
          </a:p>
        </p:txBody>
      </p:sp>
      <p:sp>
        <p:nvSpPr>
          <p:cNvPr id="2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latin typeface="Noto Sans KR Black" panose="020B0200000000000000" pitchFamily="50" charset="-127"/>
                <a:ea typeface="Noto Sans KR Black" panose="020B0200000000000000" pitchFamily="50" charset="-127"/>
              </a:rPr>
              <a:t>11</a:t>
            </a:fld>
            <a:endParaRPr lang="en-US">
              <a:latin typeface="Noto Sans KR Black" panose="020B0200000000000000" pitchFamily="50" charset="-127"/>
              <a:ea typeface="Noto Sans KR Black" panose="020B0200000000000000" pitchFamily="50" charset="-127"/>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548640"/>
            <a:ext cx="10637215" cy="777240"/>
          </a:xfrm>
          <a:prstGeom prst="rect">
            <a:avLst/>
          </a:prstGeom>
          <a:noFill/>
          <a:ln/>
        </p:spPr>
        <p:txBody>
          <a:bodyPr wrap="square" lIns="0" tIns="0" rIns="0" bIns="0" rtlCol="0" anchor="t"/>
          <a:lstStyle/>
          <a:p>
            <a:pPr marL="0" indent="0" algn="l">
              <a:buNone/>
            </a:pPr>
            <a:r>
              <a:rPr lang="ko-KR" altLang="en-US" sz="3600" b="1" dirty="0">
                <a:solidFill>
                  <a:schemeClr val="tx1"/>
                </a:solidFill>
                <a:latin typeface="Noto Sans KR Black" panose="020B0200000000000000" pitchFamily="50" charset="-127"/>
                <a:ea typeface="Noto Sans KR Black" panose="020B0200000000000000" pitchFamily="50" charset="-127"/>
              </a:rPr>
              <a:t>한계와 다음 단계</a:t>
            </a:r>
            <a:endParaRPr lang="ko-KR" sz="3600" dirty="0">
              <a:latin typeface="Noto Sans KR Black" panose="020B0200000000000000" pitchFamily="50" charset="-127"/>
              <a:ea typeface="Noto Sans KR Black" panose="020B0200000000000000" pitchFamily="50" charset="-127"/>
            </a:endParaRPr>
          </a:p>
        </p:txBody>
      </p:sp>
      <p:sp>
        <p:nvSpPr>
          <p:cNvPr id="3" name="text-119"/>
          <p:cNvSpPr txBox="1"/>
          <p:nvPr/>
        </p:nvSpPr>
        <p:spPr>
          <a:xfrm>
            <a:off x="777240" y="1645920"/>
            <a:ext cx="6035040" cy="365760"/>
          </a:xfrm>
          <a:prstGeom prst="rect">
            <a:avLst/>
          </a:prstGeom>
          <a:noFill/>
          <a:ln/>
        </p:spPr>
        <p:txBody>
          <a:bodyPr wrap="square" lIns="0" tIns="0" rIns="0" bIns="0" rtlCol="0" anchor="t"/>
          <a:lstStyle/>
          <a:p>
            <a:pPr marL="0" indent="0">
              <a:buNone/>
            </a:pPr>
            <a:r>
              <a:rPr lang="ko-KR" altLang="en-US" sz="1800" b="1" dirty="0">
                <a:solidFill>
                  <a:schemeClr val="accent3"/>
                </a:solidFill>
                <a:latin typeface="Noto Sans KR Black" panose="020B0200000000000000" pitchFamily="50" charset="-127"/>
                <a:ea typeface="Noto Sans KR Black" panose="020B0200000000000000" pitchFamily="50" charset="-127"/>
              </a:rPr>
              <a:t>한계</a:t>
            </a:r>
            <a:endParaRPr lang="ko-KR" sz="1800" dirty="0">
              <a:latin typeface="Noto Sans KR Black" panose="020B0200000000000000" pitchFamily="50" charset="-127"/>
              <a:ea typeface="Noto Sans KR Black" panose="020B0200000000000000" pitchFamily="50" charset="-127"/>
            </a:endParaRPr>
          </a:p>
        </p:txBody>
      </p:sp>
      <p:sp>
        <p:nvSpPr>
          <p:cNvPr id="4" name="text-120"/>
          <p:cNvSpPr txBox="1"/>
          <p:nvPr/>
        </p:nvSpPr>
        <p:spPr>
          <a:xfrm>
            <a:off x="777240" y="2103120"/>
            <a:ext cx="6035040" cy="1371600"/>
          </a:xfrm>
          <a:prstGeom prst="rect">
            <a:avLst/>
          </a:prstGeom>
          <a:noFill/>
          <a:ln/>
        </p:spPr>
        <p:txBody>
          <a:bodyPr wrap="square" lIns="0" tIns="0" rIns="0" bIns="0" rtlCol="0" anchor="t"/>
          <a:lstStyle/>
          <a:p>
            <a:pPr marL="342900" indent="-342900">
              <a:spcAft>
                <a:spcPts val="800"/>
              </a:spcAft>
              <a:buSzPct val="100000"/>
              <a:buChar char="•"/>
            </a:pPr>
            <a:r>
              <a:rPr lang="ko-KR" altLang="en-US" sz="1600" dirty="0">
                <a:solidFill>
                  <a:schemeClr val="tx1"/>
                </a:solidFill>
                <a:latin typeface="Noto Sans KR Black" panose="020B0200000000000000" pitchFamily="50" charset="-127"/>
                <a:ea typeface="Noto Sans KR Black" panose="020B0200000000000000" pitchFamily="50" charset="-127"/>
              </a:rPr>
              <a:t>메이크업이 가장 약함 (약 67%)</a:t>
            </a:r>
            <a:endParaRPr lang="ko-KR" sz="1600" dirty="0">
              <a:latin typeface="Noto Sans KR Black" panose="020B0200000000000000" pitchFamily="50" charset="-127"/>
              <a:ea typeface="Noto Sans KR Black" panose="020B0200000000000000" pitchFamily="50" charset="-127"/>
            </a:endParaRPr>
          </a:p>
          <a:p>
            <a:pPr marL="342900" indent="-342900">
              <a:spcAft>
                <a:spcPts val="800"/>
              </a:spcAft>
              <a:buSzPct val="100000"/>
              <a:buChar char="•"/>
            </a:pPr>
            <a:r>
              <a:rPr lang="ko-KR" altLang="en-US" sz="1600" dirty="0">
                <a:solidFill>
                  <a:schemeClr val="tx1"/>
                </a:solidFill>
                <a:latin typeface="Noto Sans KR Black" panose="020B0200000000000000" pitchFamily="50" charset="-127"/>
                <a:ea typeface="Noto Sans KR Black" panose="020B0200000000000000" pitchFamily="50" charset="-127"/>
              </a:rPr>
              <a:t>학습 사진이 서양 스타일 위주</a:t>
            </a:r>
            <a:endParaRPr lang="ko-KR" sz="1600" dirty="0">
              <a:latin typeface="Noto Sans KR Black" panose="020B0200000000000000" pitchFamily="50" charset="-127"/>
              <a:ea typeface="Noto Sans KR Black" panose="020B0200000000000000" pitchFamily="50" charset="-127"/>
            </a:endParaRPr>
          </a:p>
          <a:p>
            <a:pPr marL="342900" indent="-342900">
              <a:spcAft>
                <a:spcPts val="800"/>
              </a:spcAft>
              <a:buSzPct val="100000"/>
              <a:buChar char="•"/>
            </a:pPr>
            <a:r>
              <a:rPr lang="ko-KR" altLang="en-US" sz="1600" dirty="0">
                <a:solidFill>
                  <a:schemeClr val="tx1"/>
                </a:solidFill>
                <a:latin typeface="Noto Sans KR Black" panose="020B0200000000000000" pitchFamily="50" charset="-127"/>
                <a:ea typeface="Noto Sans KR Black" panose="020B0200000000000000" pitchFamily="50" charset="-127"/>
              </a:rPr>
              <a:t>라벨을 현장 전문가가 아직 검수하지 않음</a:t>
            </a:r>
            <a:endParaRPr lang="ko-KR" sz="1600" dirty="0">
              <a:latin typeface="Noto Sans KR Black" panose="020B0200000000000000" pitchFamily="50" charset="-127"/>
              <a:ea typeface="Noto Sans KR Black" panose="020B0200000000000000" pitchFamily="50" charset="-127"/>
            </a:endParaRPr>
          </a:p>
        </p:txBody>
      </p:sp>
      <p:sp>
        <p:nvSpPr>
          <p:cNvPr id="5" name="text-121"/>
          <p:cNvSpPr txBox="1"/>
          <p:nvPr/>
        </p:nvSpPr>
        <p:spPr>
          <a:xfrm>
            <a:off x="777240" y="3657600"/>
            <a:ext cx="6035040" cy="365760"/>
          </a:xfrm>
          <a:prstGeom prst="rect">
            <a:avLst/>
          </a:prstGeom>
          <a:noFill/>
          <a:ln/>
        </p:spPr>
        <p:txBody>
          <a:bodyPr wrap="square" lIns="0" tIns="0" rIns="0" bIns="0" rtlCol="0" anchor="t"/>
          <a:lstStyle/>
          <a:p>
            <a:pPr marL="0" indent="0">
              <a:buNone/>
            </a:pPr>
            <a:r>
              <a:rPr lang="ko-KR" altLang="en-US" sz="1800" b="1" dirty="0">
                <a:solidFill>
                  <a:schemeClr val="accent3"/>
                </a:solidFill>
                <a:latin typeface="Noto Sans KR Black" panose="020B0200000000000000" pitchFamily="50" charset="-127"/>
                <a:ea typeface="Noto Sans KR Black" panose="020B0200000000000000" pitchFamily="50" charset="-127"/>
              </a:rPr>
              <a:t>다음 단계</a:t>
            </a:r>
            <a:endParaRPr lang="ko-KR" sz="1800" dirty="0">
              <a:latin typeface="Noto Sans KR Black" panose="020B0200000000000000" pitchFamily="50" charset="-127"/>
              <a:ea typeface="Noto Sans KR Black" panose="020B0200000000000000" pitchFamily="50" charset="-127"/>
            </a:endParaRPr>
          </a:p>
        </p:txBody>
      </p:sp>
      <p:sp>
        <p:nvSpPr>
          <p:cNvPr id="6" name="text-122"/>
          <p:cNvSpPr txBox="1"/>
          <p:nvPr/>
        </p:nvSpPr>
        <p:spPr>
          <a:xfrm>
            <a:off x="777240" y="4114800"/>
            <a:ext cx="6035040" cy="1371600"/>
          </a:xfrm>
          <a:prstGeom prst="rect">
            <a:avLst/>
          </a:prstGeom>
          <a:noFill/>
          <a:ln/>
        </p:spPr>
        <p:txBody>
          <a:bodyPr wrap="square" lIns="0" tIns="0" rIns="0" bIns="0" rtlCol="0" anchor="t"/>
          <a:lstStyle/>
          <a:p>
            <a:pPr marL="342900" indent="-342900">
              <a:spcAft>
                <a:spcPts val="800"/>
              </a:spcAft>
              <a:buSzPct val="100000"/>
              <a:buChar char="•"/>
            </a:pPr>
            <a:r>
              <a:rPr lang="ko-KR" altLang="en-US" sz="1600" dirty="0">
                <a:solidFill>
                  <a:schemeClr val="tx1"/>
                </a:solidFill>
                <a:latin typeface="Noto Sans KR Black" panose="020B0200000000000000" pitchFamily="50" charset="-127"/>
                <a:ea typeface="Noto Sans KR Black" panose="020B0200000000000000" pitchFamily="50" charset="-127"/>
              </a:rPr>
              <a:t>전문가 검수 도구로 분야별 채점 → 다시 학습</a:t>
            </a:r>
            <a:endParaRPr lang="ko-KR" sz="1600" dirty="0">
              <a:latin typeface="Noto Sans KR Black" panose="020B0200000000000000" pitchFamily="50" charset="-127"/>
              <a:ea typeface="Noto Sans KR Black" panose="020B0200000000000000" pitchFamily="50" charset="-127"/>
            </a:endParaRPr>
          </a:p>
          <a:p>
            <a:pPr marL="342900" indent="-342900">
              <a:spcAft>
                <a:spcPts val="800"/>
              </a:spcAft>
              <a:buSzPct val="100000"/>
              <a:buChar char="•"/>
            </a:pPr>
            <a:r>
              <a:rPr lang="ko-KR" altLang="en-US" sz="1600" dirty="0">
                <a:solidFill>
                  <a:schemeClr val="tx1"/>
                </a:solidFill>
                <a:latin typeface="Noto Sans KR Black" panose="020B0200000000000000" pitchFamily="50" charset="-127"/>
                <a:ea typeface="Noto Sans KR Black" panose="020B0200000000000000" pitchFamily="50" charset="-127"/>
              </a:rPr>
              <a:t>한국 스타일 사진, 특히 메이크업 사진 추가</a:t>
            </a:r>
            <a:endParaRPr lang="ko-KR" sz="1600" dirty="0">
              <a:latin typeface="Noto Sans KR Black" panose="020B0200000000000000" pitchFamily="50" charset="-127"/>
              <a:ea typeface="Noto Sans KR Black" panose="020B0200000000000000" pitchFamily="50" charset="-127"/>
            </a:endParaRPr>
          </a:p>
          <a:p>
            <a:pPr marL="342900" indent="-342900">
              <a:spcAft>
                <a:spcPts val="800"/>
              </a:spcAft>
              <a:buSzPct val="100000"/>
              <a:buChar char="•"/>
            </a:pPr>
            <a:r>
              <a:rPr lang="ko-KR" altLang="en-US" sz="1600" dirty="0">
                <a:solidFill>
                  <a:schemeClr val="tx1"/>
                </a:solidFill>
                <a:latin typeface="Noto Sans KR Black" panose="020B0200000000000000" pitchFamily="50" charset="-127"/>
                <a:ea typeface="Noto Sans KR Black" panose="020B0200000000000000" pitchFamily="50" charset="-127"/>
              </a:rPr>
              <a:t>예시 · 학습 사진의 권리 확보</a:t>
            </a:r>
            <a:endParaRPr lang="ko-KR" sz="1600" dirty="0">
              <a:latin typeface="Noto Sans KR Black" panose="020B0200000000000000" pitchFamily="50" charset="-127"/>
              <a:ea typeface="Noto Sans KR Black" panose="020B0200000000000000" pitchFamily="50" charset="-127"/>
            </a:endParaRPr>
          </a:p>
        </p:txBody>
      </p:sp>
      <p:pic>
        <p:nvPicPr>
          <p:cNvPr id="7" name="review-123" descr="전문가 검수 도구 화면: 기장 · 커트 · 연출 항목마다 맞음 · 틀림 · 판단 불가 버튼과 정답 고르기"/>
          <p:cNvPicPr>
            <a:picLocks noChangeAspect="1"/>
          </p:cNvPicPr>
          <p:nvPr/>
        </p:nvPicPr>
        <p:blipFill>
          <a:blip r:embed="rId3"/>
          <a:stretch>
            <a:fillRect/>
          </a:stretch>
        </p:blipFill>
        <p:spPr>
          <a:xfrm>
            <a:off x="7589520" y="1600200"/>
            <a:ext cx="3822192" cy="3982212"/>
          </a:xfrm>
          <a:prstGeom prst="rect">
            <a:avLst/>
          </a:prstGeom>
        </p:spPr>
      </p:pic>
      <p:sp>
        <p:nvSpPr>
          <p:cNvPr id="8" name="frame-124"/>
          <p:cNvSpPr/>
          <p:nvPr/>
        </p:nvSpPr>
        <p:spPr>
          <a:xfrm>
            <a:off x="7589520" y="1600200"/>
            <a:ext cx="3822192" cy="3982212"/>
          </a:xfrm>
          <a:prstGeom prst="rect">
            <a:avLst/>
          </a:prstGeom>
          <a:ln w="9525">
            <a:solidFill>
              <a:schemeClr val="accent5"/>
            </a:solidFill>
            <a:prstDash val="solid"/>
          </a:ln>
        </p:spPr>
      </p:sp>
      <p:sp>
        <p:nvSpPr>
          <p:cNvPr id="9" name="text-125"/>
          <p:cNvSpPr txBox="1"/>
          <p:nvPr/>
        </p:nvSpPr>
        <p:spPr>
          <a:xfrm>
            <a:off x="7589520" y="5669280"/>
            <a:ext cx="3822192" cy="457200"/>
          </a:xfrm>
          <a:prstGeom prst="rect">
            <a:avLst/>
          </a:prstGeom>
          <a:noFill/>
          <a:ln/>
        </p:spPr>
        <p:txBody>
          <a:bodyPr wrap="square" lIns="0" tIns="0" rIns="0" bIns="0" rtlCol="0" anchor="t"/>
          <a:lstStyle/>
          <a:p>
            <a:pPr marL="0" indent="0">
              <a:buNone/>
            </a:pPr>
            <a:r>
              <a:rPr lang="ko-KR" altLang="en-US" sz="1100" dirty="0">
                <a:solidFill>
                  <a:schemeClr val="accent4"/>
                </a:solidFill>
                <a:latin typeface="Noto Sans KR Black" panose="020B0200000000000000" pitchFamily="50" charset="-127"/>
                <a:ea typeface="Noto Sans KR Black" panose="020B0200000000000000" pitchFamily="50" charset="-127"/>
              </a:rPr>
              <a:t>전문가 검수 도구: 항목마다 맞음 · 틀림을 누르고 정답을 고릅니다</a:t>
            </a:r>
            <a:endParaRPr lang="ko-KR" sz="1100" dirty="0">
              <a:latin typeface="Noto Sans KR Black" panose="020B0200000000000000" pitchFamily="50" charset="-127"/>
              <a:ea typeface="Noto Sans KR Black" panose="020B0200000000000000" pitchFamily="50" charset="-127"/>
            </a:endParaRPr>
          </a:p>
        </p:txBody>
      </p:sp>
      <p:sp>
        <p:nvSpPr>
          <p:cNvPr id="2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latin typeface="Noto Sans KR Black" panose="020B0200000000000000" pitchFamily="50" charset="-127"/>
                <a:ea typeface="Noto Sans KR Black" panose="020B0200000000000000" pitchFamily="50" charset="-127"/>
              </a:rPr>
              <a:t>12</a:t>
            </a:fld>
            <a:endParaRPr lang="en-US">
              <a:latin typeface="Noto Sans KR Black" panose="020B0200000000000000" pitchFamily="50" charset="-127"/>
              <a:ea typeface="Noto Sans KR Black" panose="020B0200000000000000" pitchFamily="50" charset="-127"/>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126"/>
          <p:cNvSpPr txBox="1"/>
          <p:nvPr/>
        </p:nvSpPr>
        <p:spPr>
          <a:xfrm>
            <a:off x="777240" y="2743200"/>
            <a:ext cx="6675120" cy="868680"/>
          </a:xfrm>
          <a:prstGeom prst="rect">
            <a:avLst/>
          </a:prstGeom>
          <a:noFill/>
          <a:ln/>
        </p:spPr>
        <p:txBody>
          <a:bodyPr wrap="square" lIns="0" tIns="0" rIns="0" bIns="0" rtlCol="0" anchor="t"/>
          <a:lstStyle/>
          <a:p>
            <a:pPr marL="0" indent="0">
              <a:lnSpc>
                <a:spcPct val="120000"/>
              </a:lnSpc>
              <a:buNone/>
            </a:pPr>
            <a:r>
              <a:rPr lang="ko-KR" altLang="en-US" sz="1800" dirty="0">
                <a:solidFill>
                  <a:schemeClr val="tx2"/>
                </a:solidFill>
                <a:latin typeface="Noto Sans KR Black" panose="020B0200000000000000" pitchFamily="50" charset="-127"/>
                <a:ea typeface="Noto Sans KR Black" panose="020B0200000000000000" pitchFamily="50" charset="-127"/>
              </a:rPr>
              <a:t>사진 한 장으로 헤어 · 네일 · 메이크업 · 타투를 한국어로 설명하는 AI</a:t>
            </a:r>
            <a:endParaRPr lang="ko-KR" sz="1800" dirty="0">
              <a:latin typeface="Noto Sans KR Black" panose="020B0200000000000000" pitchFamily="50" charset="-127"/>
              <a:ea typeface="Noto Sans KR Black" panose="020B0200000000000000" pitchFamily="50" charset="-127"/>
            </a:endParaRPr>
          </a:p>
        </p:txBody>
      </p:sp>
      <p:sp>
        <p:nvSpPr>
          <p:cNvPr id="4" name="text-127"/>
          <p:cNvSpPr txBox="1"/>
          <p:nvPr/>
        </p:nvSpPr>
        <p:spPr>
          <a:xfrm>
            <a:off x="777240" y="3794760"/>
            <a:ext cx="6858000" cy="365760"/>
          </a:xfrm>
          <a:prstGeom prst="rect">
            <a:avLst/>
          </a:prstGeom>
          <a:noFill/>
          <a:ln/>
        </p:spPr>
        <p:txBody>
          <a:bodyPr wrap="square" lIns="0" tIns="0" rIns="0" bIns="0" rtlCol="0" anchor="t"/>
          <a:lstStyle/>
          <a:p>
            <a:pPr marL="0" indent="0">
              <a:buNone/>
            </a:pPr>
            <a:r>
              <a:rPr lang="ko-KR" altLang="en-US" sz="1400" b="1" dirty="0">
                <a:solidFill>
                  <a:schemeClr val="tx1"/>
                </a:solidFill>
                <a:latin typeface="Noto Sans KR Black" panose="020B0200000000000000" pitchFamily="50" charset="-127"/>
                <a:ea typeface="Noto Sans KR Black" panose="020B0200000000000000" pitchFamily="50" charset="-127"/>
              </a:rPr>
              <a:t>데모   </a:t>
            </a:r>
            <a:r>
              <a:rPr lang="ko-KR" altLang="en-US" sz="1400" dirty="0">
                <a:solidFill>
                  <a:schemeClr val="tx1"/>
                </a:solidFill>
                <a:latin typeface="Noto Sans KR Black" panose="020B0200000000000000" pitchFamily="50" charset="-127"/>
                <a:ea typeface="Noto Sans KR Black" panose="020B0200000000000000" pitchFamily="50" charset="-127"/>
              </a:rPr>
              <a:t>huggingface.co/spaces/kyoungminOh/beauty-style-ai</a:t>
            </a:r>
            <a:endParaRPr lang="ko-KR" sz="1400" dirty="0">
              <a:latin typeface="Noto Sans KR Black" panose="020B0200000000000000" pitchFamily="50" charset="-127"/>
              <a:ea typeface="Noto Sans KR Black" panose="020B0200000000000000" pitchFamily="50" charset="-127"/>
            </a:endParaRPr>
          </a:p>
        </p:txBody>
      </p:sp>
      <p:sp>
        <p:nvSpPr>
          <p:cNvPr id="5" name="text-128"/>
          <p:cNvSpPr txBox="1"/>
          <p:nvPr/>
        </p:nvSpPr>
        <p:spPr>
          <a:xfrm>
            <a:off x="777240" y="4206240"/>
            <a:ext cx="6858000" cy="365760"/>
          </a:xfrm>
          <a:prstGeom prst="rect">
            <a:avLst/>
          </a:prstGeom>
          <a:noFill/>
          <a:ln/>
        </p:spPr>
        <p:txBody>
          <a:bodyPr wrap="square" lIns="0" tIns="0" rIns="0" bIns="0" rtlCol="0" anchor="t"/>
          <a:lstStyle/>
          <a:p>
            <a:pPr marL="0" indent="0">
              <a:buNone/>
            </a:pPr>
            <a:r>
              <a:rPr lang="ko-KR" altLang="en-US" sz="1400" b="1" dirty="0">
                <a:solidFill>
                  <a:schemeClr val="tx1"/>
                </a:solidFill>
                <a:latin typeface="Noto Sans KR Black" panose="020B0200000000000000" pitchFamily="50" charset="-127"/>
                <a:ea typeface="Noto Sans KR Black" panose="020B0200000000000000" pitchFamily="50" charset="-127"/>
              </a:rPr>
              <a:t>소스   </a:t>
            </a:r>
            <a:r>
              <a:rPr lang="ko-KR" altLang="en-US" sz="1400" dirty="0">
                <a:solidFill>
                  <a:schemeClr val="tx1"/>
                </a:solidFill>
                <a:latin typeface="Noto Sans KR Black" panose="020B0200000000000000" pitchFamily="50" charset="-127"/>
                <a:ea typeface="Noto Sans KR Black" panose="020B0200000000000000" pitchFamily="50" charset="-127"/>
              </a:rPr>
              <a:t>github.com/rudals906377/AI</a:t>
            </a:r>
            <a:endParaRPr lang="ko-KR" sz="1400" dirty="0">
              <a:latin typeface="Noto Sans KR Black" panose="020B0200000000000000" pitchFamily="50" charset="-127"/>
              <a:ea typeface="Noto Sans KR Black" panose="020B0200000000000000" pitchFamily="50" charset="-127"/>
            </a:endParaRPr>
          </a:p>
        </p:txBody>
      </p:sp>
      <p:sp>
        <p:nvSpPr>
          <p:cNvPr id="6" name="text-129"/>
          <p:cNvSpPr txBox="1"/>
          <p:nvPr/>
        </p:nvSpPr>
        <p:spPr>
          <a:xfrm>
            <a:off x="777240" y="4846320"/>
            <a:ext cx="6675120" cy="365760"/>
          </a:xfrm>
          <a:prstGeom prst="rect">
            <a:avLst/>
          </a:prstGeom>
          <a:noFill/>
          <a:ln/>
        </p:spPr>
        <p:txBody>
          <a:bodyPr wrap="square" lIns="0" tIns="0" rIns="0" bIns="0" rtlCol="0" anchor="t"/>
          <a:lstStyle/>
          <a:p>
            <a:pPr marL="0" indent="0">
              <a:buNone/>
            </a:pPr>
            <a:r>
              <a:rPr lang="ko-KR" altLang="en-US" sz="1400" dirty="0">
                <a:solidFill>
                  <a:schemeClr val="accent4"/>
                </a:solidFill>
                <a:latin typeface="Noto Sans KR Black" panose="020B0200000000000000" pitchFamily="50" charset="-127"/>
                <a:ea typeface="Noto Sans KR Black" panose="020B0200000000000000" pitchFamily="50" charset="-127"/>
              </a:rPr>
              <a:t>인공지능 소프트웨어 / 오경민</a:t>
            </a:r>
            <a:endParaRPr lang="ko-KR" sz="1400" dirty="0">
              <a:latin typeface="Noto Sans KR Black" panose="020B0200000000000000" pitchFamily="50" charset="-127"/>
              <a:ea typeface="Noto Sans KR Black" panose="020B0200000000000000" pitchFamily="50" charset="-127"/>
            </a:endParaRPr>
          </a:p>
        </p:txBody>
      </p:sp>
      <p:sp>
        <p:nvSpPr>
          <p:cNvPr id="7" name="card-130"/>
          <p:cNvSpPr/>
          <p:nvPr/>
        </p:nvSpPr>
        <p:spPr>
          <a:xfrm>
            <a:off x="8001000" y="1600200"/>
            <a:ext cx="3410712" cy="3977640"/>
          </a:xfrm>
          <a:prstGeom prst="roundRect">
            <a:avLst>
              <a:gd name="adj" fmla="val 3217"/>
            </a:avLst>
          </a:prstGeom>
          <a:solidFill>
            <a:schemeClr val="bg1"/>
          </a:solidFill>
          <a:ln w="9525">
            <a:solidFill>
              <a:schemeClr val="accent5"/>
            </a:solidFill>
            <a:prstDash val="solid"/>
          </a:ln>
        </p:spPr>
      </p:sp>
      <p:pic>
        <p:nvPicPr>
          <p:cNvPr id="8" name="qr-131" descr="데모 사이트 QR 코드"/>
          <p:cNvPicPr>
            <a:picLocks noChangeAspect="1"/>
          </p:cNvPicPr>
          <p:nvPr/>
        </p:nvPicPr>
        <p:blipFill>
          <a:blip r:embed="rId3"/>
          <a:stretch>
            <a:fillRect/>
          </a:stretch>
        </p:blipFill>
        <p:spPr>
          <a:xfrm>
            <a:off x="8284464" y="1828800"/>
            <a:ext cx="2834640" cy="2834640"/>
          </a:xfrm>
          <a:prstGeom prst="rect">
            <a:avLst/>
          </a:prstGeom>
        </p:spPr>
      </p:pic>
      <p:sp>
        <p:nvSpPr>
          <p:cNvPr id="9" name="text-132"/>
          <p:cNvSpPr txBox="1"/>
          <p:nvPr/>
        </p:nvSpPr>
        <p:spPr>
          <a:xfrm>
            <a:off x="8001000" y="4846320"/>
            <a:ext cx="3410712" cy="365760"/>
          </a:xfrm>
          <a:prstGeom prst="rect">
            <a:avLst/>
          </a:prstGeom>
          <a:noFill/>
          <a:ln/>
        </p:spPr>
        <p:txBody>
          <a:bodyPr wrap="square" lIns="0" tIns="0" rIns="0" bIns="0" rtlCol="0" anchor="t"/>
          <a:lstStyle/>
          <a:p>
            <a:pPr marL="0" indent="0" algn="ctr">
              <a:buNone/>
            </a:pPr>
            <a:r>
              <a:rPr lang="ko-KR" altLang="en-US" sz="1200" dirty="0">
                <a:solidFill>
                  <a:schemeClr val="accent4"/>
                </a:solidFill>
                <a:latin typeface="Noto Sans KR Black" panose="020B0200000000000000" pitchFamily="50" charset="-127"/>
                <a:ea typeface="Noto Sans KR Black" panose="020B0200000000000000" pitchFamily="50" charset="-127"/>
              </a:rPr>
              <a:t>QR 을 찍어 직접 써 보세요</a:t>
            </a:r>
            <a:endParaRPr lang="ko-KR" sz="1200" dirty="0">
              <a:latin typeface="Noto Sans KR Black" panose="020B0200000000000000" pitchFamily="50" charset="-127"/>
              <a:ea typeface="Noto Sans KR Black" panose="020B0200000000000000" pitchFamily="50" charset="-127"/>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548640"/>
            <a:ext cx="10637215" cy="777240"/>
          </a:xfrm>
          <a:prstGeom prst="rect">
            <a:avLst/>
          </a:prstGeom>
          <a:noFill/>
          <a:ln/>
        </p:spPr>
        <p:txBody>
          <a:bodyPr wrap="square" lIns="0" tIns="0" rIns="0" bIns="0" rtlCol="0" anchor="t"/>
          <a:lstStyle/>
          <a:p>
            <a:pPr marL="0" indent="0" algn="l">
              <a:buNone/>
            </a:pPr>
            <a:r>
              <a:rPr lang="ko-KR" altLang="en-US" sz="3600" b="1" dirty="0">
                <a:solidFill>
                  <a:schemeClr val="tx1"/>
                </a:solidFill>
                <a:latin typeface="Noto Sans KR Black" panose="020B0200000000000000" pitchFamily="50" charset="-127"/>
                <a:ea typeface="Noto Sans KR Black" panose="020B0200000000000000" pitchFamily="50" charset="-127"/>
              </a:rPr>
              <a:t>이런 분께 잘 어울려요</a:t>
            </a:r>
            <a:endParaRPr lang="ko-KR" sz="3600" dirty="0">
              <a:latin typeface="Noto Sans KR Black" panose="020B0200000000000000" pitchFamily="50" charset="-127"/>
              <a:ea typeface="Noto Sans KR Black" panose="020B0200000000000000" pitchFamily="50" charset="-127"/>
            </a:endParaRPr>
          </a:p>
        </p:txBody>
      </p:sp>
      <p:sp>
        <p:nvSpPr>
          <p:cNvPr id="3" name="card-34"/>
          <p:cNvSpPr/>
          <p:nvPr/>
        </p:nvSpPr>
        <p:spPr>
          <a:xfrm>
            <a:off x="777240" y="1554480"/>
            <a:ext cx="2514600" cy="4526280"/>
          </a:xfrm>
          <a:prstGeom prst="roundRect">
            <a:avLst>
              <a:gd name="adj" fmla="val 4364"/>
            </a:avLst>
          </a:prstGeom>
          <a:solidFill>
            <a:schemeClr val="bg2"/>
          </a:solidFill>
          <a:ln/>
        </p:spPr>
      </p:sp>
      <p:pic>
        <p:nvPicPr>
          <p:cNvPr id="4" name="suits-35" descr="이런 분께 잘 어울려요 화면: 얼굴형 · 퍼스널 컬러 · 어깨선 · 목선 · 체형 · 키 · 모질 카드와 근거"/>
          <p:cNvPicPr>
            <a:picLocks noChangeAspect="1"/>
          </p:cNvPicPr>
          <p:nvPr/>
        </p:nvPicPr>
        <p:blipFill>
          <a:blip r:embed="rId4"/>
          <a:stretch>
            <a:fillRect/>
          </a:stretch>
        </p:blipFill>
        <p:spPr>
          <a:xfrm>
            <a:off x="977494" y="1645920"/>
            <a:ext cx="2114093" cy="4343400"/>
          </a:xfrm>
          <a:prstGeom prst="rect">
            <a:avLst/>
          </a:prstGeom>
        </p:spPr>
      </p:pic>
      <p:sp>
        <p:nvSpPr>
          <p:cNvPr id="5" name="text-36"/>
          <p:cNvSpPr txBox="1"/>
          <p:nvPr/>
        </p:nvSpPr>
        <p:spPr>
          <a:xfrm>
            <a:off x="3657600" y="1600200"/>
            <a:ext cx="7754112" cy="411480"/>
          </a:xfrm>
          <a:prstGeom prst="rect">
            <a:avLst/>
          </a:prstGeom>
          <a:noFill/>
          <a:ln/>
        </p:spPr>
        <p:txBody>
          <a:bodyPr wrap="square" lIns="0" tIns="0" rIns="0" bIns="0" rtlCol="0" anchor="t"/>
          <a:lstStyle/>
          <a:p>
            <a:pPr marL="0" indent="0">
              <a:buNone/>
            </a:pPr>
            <a:r>
              <a:rPr lang="ko-KR" altLang="en-US" sz="1600" dirty="0">
                <a:solidFill>
                  <a:schemeClr val="tx2"/>
                </a:solidFill>
                <a:latin typeface="Noto Sans KR Black" panose="020B0200000000000000" pitchFamily="50" charset="-127"/>
                <a:ea typeface="Noto Sans KR Black" panose="020B0200000000000000" pitchFamily="50" charset="-127"/>
              </a:rPr>
              <a:t>사진 속 스타일이 어떤 분께 잘 어울리는지, 분야에 맞는 기준으로 추천합니다.</a:t>
            </a:r>
            <a:endParaRPr lang="ko-KR" sz="1600" dirty="0">
              <a:latin typeface="Noto Sans KR Black" panose="020B0200000000000000" pitchFamily="50" charset="-127"/>
              <a:ea typeface="Noto Sans KR Black" panose="020B0200000000000000" pitchFamily="50" charset="-127"/>
            </a:endParaRPr>
          </a:p>
        </p:txBody>
      </p:sp>
      <p:sp>
        <p:nvSpPr>
          <p:cNvPr id="6" name="card-37"/>
          <p:cNvSpPr/>
          <p:nvPr/>
        </p:nvSpPr>
        <p:spPr>
          <a:xfrm>
            <a:off x="3657600" y="2194560"/>
            <a:ext cx="7754112" cy="960120"/>
          </a:xfrm>
          <a:prstGeom prst="roundRect">
            <a:avLst>
              <a:gd name="adj" fmla="val 11429"/>
            </a:avLst>
          </a:prstGeom>
          <a:solidFill>
            <a:schemeClr val="bg2"/>
          </a:solidFill>
          <a:ln/>
        </p:spPr>
      </p:sp>
      <p:sp>
        <p:nvSpPr>
          <p:cNvPr id="7" name="text-38"/>
          <p:cNvSpPr txBox="1"/>
          <p:nvPr/>
        </p:nvSpPr>
        <p:spPr>
          <a:xfrm>
            <a:off x="3931920" y="2350008"/>
            <a:ext cx="7223760" cy="320040"/>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분야마다 다른 기준</a:t>
            </a:r>
            <a:endParaRPr lang="ko-KR" sz="1600" dirty="0">
              <a:latin typeface="Noto Sans KR Black" panose="020B0200000000000000" pitchFamily="50" charset="-127"/>
              <a:ea typeface="Noto Sans KR Black" panose="020B0200000000000000" pitchFamily="50" charset="-127"/>
            </a:endParaRPr>
          </a:p>
        </p:txBody>
      </p:sp>
      <p:sp>
        <p:nvSpPr>
          <p:cNvPr id="8" name="text-39"/>
          <p:cNvSpPr txBox="1"/>
          <p:nvPr/>
        </p:nvSpPr>
        <p:spPr>
          <a:xfrm>
            <a:off x="3931920" y="2715768"/>
            <a:ext cx="7223760" cy="32004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헤어: 얼굴형 · 퍼스널 컬러 · 어깨선 · 체형 · 모질 · 추구미 · 관리</a:t>
            </a:r>
            <a:endParaRPr lang="ko-KR" sz="1400" dirty="0">
              <a:latin typeface="Noto Sans KR Black" panose="020B0200000000000000" pitchFamily="50" charset="-127"/>
              <a:ea typeface="Noto Sans KR Black" panose="020B0200000000000000" pitchFamily="50" charset="-127"/>
            </a:endParaRPr>
          </a:p>
        </p:txBody>
      </p:sp>
      <p:sp>
        <p:nvSpPr>
          <p:cNvPr id="9" name="card-40"/>
          <p:cNvSpPr/>
          <p:nvPr/>
        </p:nvSpPr>
        <p:spPr>
          <a:xfrm>
            <a:off x="3657600" y="3291840"/>
            <a:ext cx="7754112" cy="960120"/>
          </a:xfrm>
          <a:prstGeom prst="roundRect">
            <a:avLst>
              <a:gd name="adj" fmla="val 11429"/>
            </a:avLst>
          </a:prstGeom>
          <a:solidFill>
            <a:schemeClr val="bg2"/>
          </a:solidFill>
          <a:ln/>
        </p:spPr>
      </p:sp>
      <p:sp>
        <p:nvSpPr>
          <p:cNvPr id="10" name="text-41"/>
          <p:cNvSpPr txBox="1"/>
          <p:nvPr/>
        </p:nvSpPr>
        <p:spPr>
          <a:xfrm>
            <a:off x="3931920" y="3447288"/>
            <a:ext cx="7223760" cy="320040"/>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확실한 특징만 근거로</a:t>
            </a:r>
            <a:endParaRPr lang="ko-KR" sz="1600" dirty="0">
              <a:latin typeface="Noto Sans KR Black" panose="020B0200000000000000" pitchFamily="50" charset="-127"/>
              <a:ea typeface="Noto Sans KR Black" panose="020B0200000000000000" pitchFamily="50" charset="-127"/>
            </a:endParaRPr>
          </a:p>
        </p:txBody>
      </p:sp>
      <p:sp>
        <p:nvSpPr>
          <p:cNvPr id="11" name="text-42"/>
          <p:cNvSpPr txBox="1"/>
          <p:nvPr/>
        </p:nvSpPr>
        <p:spPr>
          <a:xfrm>
            <a:off x="3931920" y="3813048"/>
            <a:ext cx="7223760" cy="32004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확신이 50% 미만인 특징은 쓰지 않고, 카드마다 근거를 함께 보여 줍니다</a:t>
            </a:r>
            <a:endParaRPr lang="ko-KR" sz="1400" dirty="0">
              <a:latin typeface="Noto Sans KR Black" panose="020B0200000000000000" pitchFamily="50" charset="-127"/>
              <a:ea typeface="Noto Sans KR Black" panose="020B0200000000000000" pitchFamily="50" charset="-127"/>
            </a:endParaRPr>
          </a:p>
        </p:txBody>
      </p:sp>
      <p:sp>
        <p:nvSpPr>
          <p:cNvPr id="12" name="card-43"/>
          <p:cNvSpPr/>
          <p:nvPr/>
        </p:nvSpPr>
        <p:spPr>
          <a:xfrm>
            <a:off x="3657600" y="4389120"/>
            <a:ext cx="7754112" cy="960120"/>
          </a:xfrm>
          <a:prstGeom prst="roundRect">
            <a:avLst>
              <a:gd name="adj" fmla="val 11429"/>
            </a:avLst>
          </a:prstGeom>
          <a:solidFill>
            <a:schemeClr val="bg2"/>
          </a:solidFill>
          <a:ln/>
        </p:spPr>
      </p:sp>
      <p:sp>
        <p:nvSpPr>
          <p:cNvPr id="13" name="text-44"/>
          <p:cNvSpPr txBox="1"/>
          <p:nvPr/>
        </p:nvSpPr>
        <p:spPr>
          <a:xfrm>
            <a:off x="3931920" y="4544568"/>
            <a:ext cx="7223760" cy="320040"/>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진단이 아닌 추천</a:t>
            </a:r>
            <a:endParaRPr lang="ko-KR" sz="1600" dirty="0">
              <a:latin typeface="Noto Sans KR Black" panose="020B0200000000000000" pitchFamily="50" charset="-127"/>
              <a:ea typeface="Noto Sans KR Black" panose="020B0200000000000000" pitchFamily="50" charset="-127"/>
            </a:endParaRPr>
          </a:p>
        </p:txBody>
      </p:sp>
      <p:sp>
        <p:nvSpPr>
          <p:cNvPr id="14" name="text-45"/>
          <p:cNvSpPr txBox="1"/>
          <p:nvPr/>
        </p:nvSpPr>
        <p:spPr>
          <a:xfrm>
            <a:off x="3931920" y="4910328"/>
            <a:ext cx="7223760" cy="32004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사진 속 사람의 얼굴형 · 피부 톤 · 체형은 판단하지 않습니다</a:t>
            </a:r>
            <a:endParaRPr lang="ko-KR" sz="1400" dirty="0">
              <a:latin typeface="Noto Sans KR Black" panose="020B0200000000000000" pitchFamily="50" charset="-127"/>
              <a:ea typeface="Noto Sans KR Black" panose="020B0200000000000000" pitchFamily="50" charset="-127"/>
            </a:endParaRPr>
          </a:p>
        </p:txBody>
      </p:sp>
      <p:sp>
        <p:nvSpPr>
          <p:cNvPr id="15" name="text-46"/>
          <p:cNvSpPr txBox="1"/>
          <p:nvPr/>
        </p:nvSpPr>
        <p:spPr>
          <a:xfrm>
            <a:off x="3657600" y="5577840"/>
            <a:ext cx="7754112" cy="320040"/>
          </a:xfrm>
          <a:prstGeom prst="rect">
            <a:avLst/>
          </a:prstGeom>
          <a:noFill/>
          <a:ln/>
        </p:spPr>
        <p:txBody>
          <a:bodyPr wrap="square" lIns="0" tIns="0" rIns="0" bIns="0" rtlCol="0" anchor="t"/>
          <a:lstStyle/>
          <a:p>
            <a:pPr marL="0" indent="0">
              <a:buNone/>
            </a:pPr>
            <a:r>
              <a:rPr lang="ko-KR" altLang="en-US" sz="1300" dirty="0">
                <a:solidFill>
                  <a:schemeClr val="accent4"/>
                </a:solidFill>
                <a:latin typeface="Noto Sans KR Black" panose="020B0200000000000000" pitchFamily="50" charset="-127"/>
                <a:ea typeface="Noto Sans KR Black" panose="020B0200000000000000" pitchFamily="50" charset="-127"/>
              </a:rPr>
              <a:t>메이크업은 눈매 · 입술 · 피부 유형, 네일은 손 모양 · 손톱 상태, 타투는 피부 톤 · 부위로 봅니다.</a:t>
            </a:r>
            <a:endParaRPr lang="ko-KR" sz="1300" dirty="0">
              <a:latin typeface="Noto Sans KR Black" panose="020B0200000000000000" pitchFamily="50" charset="-127"/>
              <a:ea typeface="Noto Sans KR Black" panose="020B0200000000000000" pitchFamily="50" charset="-127"/>
            </a:endParaRPr>
          </a:p>
        </p:txBody>
      </p:sp>
      <p:sp>
        <p:nvSpPr>
          <p:cNvPr id="2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latin typeface="Noto Sans KR Black" panose="020B0200000000000000" pitchFamily="50" charset="-127"/>
                <a:ea typeface="Noto Sans KR Black" panose="020B0200000000000000" pitchFamily="50" charset="-127"/>
              </a:rPr>
              <a:t>6</a:t>
            </a:fld>
            <a:endParaRPr lang="en-US">
              <a:latin typeface="Noto Sans KR Black" panose="020B0200000000000000" pitchFamily="50" charset="-127"/>
              <a:ea typeface="Noto Sans KR Black" panose="020B0200000000000000" pitchFamily="50" charset="-127"/>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548640"/>
            <a:ext cx="10637215" cy="777240"/>
          </a:xfrm>
          <a:prstGeom prst="rect">
            <a:avLst/>
          </a:prstGeom>
          <a:noFill/>
          <a:ln/>
        </p:spPr>
        <p:txBody>
          <a:bodyPr wrap="square" lIns="0" tIns="0" rIns="0" bIns="0" rtlCol="0" anchor="t"/>
          <a:lstStyle/>
          <a:p>
            <a:pPr marL="0" indent="0" algn="l">
              <a:buNone/>
            </a:pPr>
            <a:r>
              <a:rPr lang="ko-KR" altLang="en-US" sz="3600" b="1" dirty="0">
                <a:solidFill>
                  <a:schemeClr val="tx1"/>
                </a:solidFill>
                <a:latin typeface="Noto Sans KR Black" panose="020B0200000000000000" pitchFamily="50" charset="-127"/>
                <a:ea typeface="Noto Sans KR Black" panose="020B0200000000000000" pitchFamily="50" charset="-127"/>
              </a:rPr>
              <a:t>내 얼굴 분석</a:t>
            </a:r>
            <a:endParaRPr lang="ko-KR" sz="3600" dirty="0">
              <a:latin typeface="Noto Sans KR Black" panose="020B0200000000000000" pitchFamily="50" charset="-127"/>
              <a:ea typeface="Noto Sans KR Black" panose="020B0200000000000000" pitchFamily="50" charset="-127"/>
            </a:endParaRPr>
          </a:p>
        </p:txBody>
      </p:sp>
      <p:sp>
        <p:nvSpPr>
          <p:cNvPr id="3" name="card-34"/>
          <p:cNvSpPr/>
          <p:nvPr/>
        </p:nvSpPr>
        <p:spPr>
          <a:xfrm>
            <a:off x="777240" y="1554480"/>
            <a:ext cx="2514600" cy="4526280"/>
          </a:xfrm>
          <a:prstGeom prst="roundRect">
            <a:avLst>
              <a:gd name="adj" fmla="val 4364"/>
            </a:avLst>
          </a:prstGeom>
          <a:solidFill>
            <a:schemeClr val="bg2"/>
          </a:solidFill>
          <a:ln/>
        </p:spPr>
      </p:sp>
      <p:pic>
        <p:nvPicPr>
          <p:cNvPr id="4" name="face-35" descr="내 얼굴 분석 화면: 얼굴 위에 그린 이마 · 광대 · 턱 너비와 삼정 측정선, 얼굴형과 얼굴형별 확률 막대"/>
          <p:cNvPicPr>
            <a:picLocks noChangeAspect="1"/>
          </p:cNvPicPr>
          <p:nvPr/>
        </p:nvPicPr>
        <p:blipFill>
          <a:blip r:embed="rId5"/>
          <a:stretch>
            <a:fillRect/>
          </a:stretch>
        </p:blipFill>
        <p:spPr>
          <a:xfrm>
            <a:off x="977494" y="1645920"/>
            <a:ext cx="2114093" cy="4343400"/>
          </a:xfrm>
          <a:prstGeom prst="rect">
            <a:avLst/>
          </a:prstGeom>
        </p:spPr>
      </p:pic>
      <p:sp>
        <p:nvSpPr>
          <p:cNvPr id="5" name="text-36"/>
          <p:cNvSpPr txBox="1"/>
          <p:nvPr/>
        </p:nvSpPr>
        <p:spPr>
          <a:xfrm>
            <a:off x="3657600" y="1600200"/>
            <a:ext cx="7754112" cy="411480"/>
          </a:xfrm>
          <a:prstGeom prst="rect">
            <a:avLst/>
          </a:prstGeom>
          <a:noFill/>
          <a:ln/>
        </p:spPr>
        <p:txBody>
          <a:bodyPr wrap="square" lIns="0" tIns="0" rIns="0" bIns="0" rtlCol="0" anchor="t"/>
          <a:lstStyle/>
          <a:p>
            <a:pPr marL="0" indent="0">
              <a:buNone/>
            </a:pPr>
            <a:r>
              <a:rPr lang="ko-KR" altLang="en-US" sz="1600" dirty="0">
                <a:solidFill>
                  <a:schemeClr val="tx2"/>
                </a:solidFill>
                <a:latin typeface="Noto Sans KR Black" panose="020B0200000000000000" pitchFamily="50" charset="-127"/>
                <a:ea typeface="Noto Sans KR Black" panose="020B0200000000000000" pitchFamily="50" charset="-127"/>
              </a:rPr>
              <a:t>셀카 한 장으로 얼굴형을 재고, 헤어 · 메이크업을 맞춤 추천합니다.</a:t>
            </a:r>
            <a:endParaRPr lang="ko-KR" sz="1600" dirty="0">
              <a:latin typeface="Noto Sans KR Black" panose="020B0200000000000000" pitchFamily="50" charset="-127"/>
              <a:ea typeface="Noto Sans KR Black" panose="020B0200000000000000" pitchFamily="50" charset="-127"/>
            </a:endParaRPr>
          </a:p>
        </p:txBody>
      </p:sp>
      <p:sp>
        <p:nvSpPr>
          <p:cNvPr id="6" name="card-37"/>
          <p:cNvSpPr/>
          <p:nvPr/>
        </p:nvSpPr>
        <p:spPr>
          <a:xfrm>
            <a:off x="3657600" y="2194560"/>
            <a:ext cx="7754112" cy="960120"/>
          </a:xfrm>
          <a:prstGeom prst="roundRect">
            <a:avLst>
              <a:gd name="adj" fmla="val 11429"/>
            </a:avLst>
          </a:prstGeom>
          <a:solidFill>
            <a:schemeClr val="bg2"/>
          </a:solidFill>
          <a:ln/>
        </p:spPr>
      </p:sp>
      <p:sp>
        <p:nvSpPr>
          <p:cNvPr id="7" name="text-38"/>
          <p:cNvSpPr txBox="1"/>
          <p:nvPr/>
        </p:nvSpPr>
        <p:spPr>
          <a:xfrm>
            <a:off x="3931920" y="2350008"/>
            <a:ext cx="7223760" cy="320040"/>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얼굴을 직접 잽니다</a:t>
            </a:r>
            <a:endParaRPr lang="ko-KR" sz="1600" dirty="0">
              <a:latin typeface="Noto Sans KR Black" panose="020B0200000000000000" pitchFamily="50" charset="-127"/>
              <a:ea typeface="Noto Sans KR Black" panose="020B0200000000000000" pitchFamily="50" charset="-127"/>
            </a:endParaRPr>
          </a:p>
        </p:txBody>
      </p:sp>
      <p:sp>
        <p:nvSpPr>
          <p:cNvPr id="8" name="text-39"/>
          <p:cNvSpPr txBox="1"/>
          <p:nvPr/>
        </p:nvSpPr>
        <p:spPr>
          <a:xfrm>
            <a:off x="3931920" y="2715768"/>
            <a:ext cx="7223760" cy="32004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이마 · 광대 · 턱 너비, 삼정, 턱 각도 → 6가지 얼굴형에 가까운 정도(%)</a:t>
            </a:r>
            <a:endParaRPr lang="ko-KR" sz="1400" dirty="0">
              <a:latin typeface="Noto Sans KR Black" panose="020B0200000000000000" pitchFamily="50" charset="-127"/>
              <a:ea typeface="Noto Sans KR Black" panose="020B0200000000000000" pitchFamily="50" charset="-127"/>
            </a:endParaRPr>
          </a:p>
        </p:txBody>
      </p:sp>
      <p:sp>
        <p:nvSpPr>
          <p:cNvPr id="9" name="card-40"/>
          <p:cNvSpPr/>
          <p:nvPr/>
        </p:nvSpPr>
        <p:spPr>
          <a:xfrm>
            <a:off x="3657600" y="3291840"/>
            <a:ext cx="7754112" cy="960120"/>
          </a:xfrm>
          <a:prstGeom prst="roundRect">
            <a:avLst>
              <a:gd name="adj" fmla="val 11429"/>
            </a:avLst>
          </a:prstGeom>
          <a:solidFill>
            <a:schemeClr val="bg2"/>
          </a:solidFill>
          <a:ln/>
        </p:spPr>
      </p:sp>
      <p:sp>
        <p:nvSpPr>
          <p:cNvPr id="10" name="text-41"/>
          <p:cNvSpPr txBox="1"/>
          <p:nvPr/>
        </p:nvSpPr>
        <p:spPr>
          <a:xfrm>
            <a:off x="3931920" y="3447288"/>
            <a:ext cx="7223760" cy="320040"/>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가리면 다시 찍기</a:t>
            </a:r>
            <a:endParaRPr lang="ko-KR" sz="1600" dirty="0">
              <a:latin typeface="Noto Sans KR Black" panose="020B0200000000000000" pitchFamily="50" charset="-127"/>
              <a:ea typeface="Noto Sans KR Black" panose="020B0200000000000000" pitchFamily="50" charset="-127"/>
            </a:endParaRPr>
          </a:p>
        </p:txBody>
      </p:sp>
      <p:sp>
        <p:nvSpPr>
          <p:cNvPr id="11" name="text-42"/>
          <p:cNvSpPr txBox="1"/>
          <p:nvPr/>
        </p:nvSpPr>
        <p:spPr>
          <a:xfrm>
            <a:off x="3931920" y="3813048"/>
            <a:ext cx="7223760" cy="32004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앞머리 · 옆머리 · 손이 얼굴선을 가리면 그 부분을 붉게 표시하고 다시 요청</a:t>
            </a:r>
            <a:endParaRPr lang="ko-KR" sz="1400" dirty="0">
              <a:latin typeface="Noto Sans KR Black" panose="020B0200000000000000" pitchFamily="50" charset="-127"/>
              <a:ea typeface="Noto Sans KR Black" panose="020B0200000000000000" pitchFamily="50" charset="-127"/>
            </a:endParaRPr>
          </a:p>
        </p:txBody>
      </p:sp>
      <p:sp>
        <p:nvSpPr>
          <p:cNvPr id="12" name="card-43"/>
          <p:cNvSpPr/>
          <p:nvPr/>
        </p:nvSpPr>
        <p:spPr>
          <a:xfrm>
            <a:off x="3657600" y="4389120"/>
            <a:ext cx="7754112" cy="960120"/>
          </a:xfrm>
          <a:prstGeom prst="roundRect">
            <a:avLst>
              <a:gd name="adj" fmla="val 11429"/>
            </a:avLst>
          </a:prstGeom>
          <a:solidFill>
            <a:schemeClr val="bg2"/>
          </a:solidFill>
          <a:ln/>
        </p:spPr>
      </p:sp>
      <p:sp>
        <p:nvSpPr>
          <p:cNvPr id="13" name="text-44"/>
          <p:cNvSpPr txBox="1"/>
          <p:nvPr/>
        </p:nvSpPr>
        <p:spPr>
          <a:xfrm>
            <a:off x="3931920" y="4544568"/>
            <a:ext cx="7223760" cy="320040"/>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얼굴형 맞춤 추천</a:t>
            </a:r>
            <a:endParaRPr lang="ko-KR" sz="1600" dirty="0">
              <a:latin typeface="Noto Sans KR Black" panose="020B0200000000000000" pitchFamily="50" charset="-127"/>
              <a:ea typeface="Noto Sans KR Black" panose="020B0200000000000000" pitchFamily="50" charset="-127"/>
            </a:endParaRPr>
          </a:p>
        </p:txBody>
      </p:sp>
      <p:sp>
        <p:nvSpPr>
          <p:cNvPr id="14" name="text-45"/>
          <p:cNvSpPr txBox="1"/>
          <p:nvPr/>
        </p:nvSpPr>
        <p:spPr>
          <a:xfrm>
            <a:off x="3931920" y="4910328"/>
            <a:ext cx="7223760" cy="32004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헤어는 커트 · 앞머리 · 가르마, 메이크업은 쉐딩 · 블러셔 위치를 얼굴 위에</a:t>
            </a:r>
            <a:endParaRPr lang="ko-KR" sz="1400" dirty="0">
              <a:latin typeface="Noto Sans KR Black" panose="020B0200000000000000" pitchFamily="50" charset="-127"/>
              <a:ea typeface="Noto Sans KR Black" panose="020B0200000000000000" pitchFamily="50" charset="-127"/>
            </a:endParaRPr>
          </a:p>
        </p:txBody>
      </p:sp>
      <p:sp>
        <p:nvSpPr>
          <p:cNvPr id="15" name="text-46"/>
          <p:cNvSpPr txBox="1"/>
          <p:nvPr/>
        </p:nvSpPr>
        <p:spPr>
          <a:xfrm>
            <a:off x="3657600" y="5577840"/>
            <a:ext cx="7754112" cy="320040"/>
          </a:xfrm>
          <a:prstGeom prst="rect">
            <a:avLst/>
          </a:prstGeom>
          <a:noFill/>
          <a:ln/>
        </p:spPr>
        <p:txBody>
          <a:bodyPr wrap="square" lIns="0" tIns="0" rIns="0" bIns="0" rtlCol="0" anchor="t"/>
          <a:lstStyle/>
          <a:p>
            <a:pPr marL="0" indent="0">
              <a:buNone/>
            </a:pPr>
            <a:r>
              <a:rPr lang="ko-KR" altLang="en-US" sz="1300" dirty="0">
                <a:solidFill>
                  <a:schemeClr val="accent4"/>
                </a:solidFill>
                <a:latin typeface="Noto Sans KR Black" panose="020B0200000000000000" pitchFamily="50" charset="-127"/>
                <a:ea typeface="Noto Sans KR Black" panose="020B0200000000000000" pitchFamily="50" charset="-127"/>
              </a:rPr>
              <a:t>얼굴 랜드마크 478점 + 부위 분할로 측정 · 셀카는 브라우저 밖으로 나가지 않아요.</a:t>
            </a:r>
            <a:endParaRPr lang="ko-KR" sz="1300" dirty="0">
              <a:latin typeface="Noto Sans KR Black" panose="020B0200000000000000" pitchFamily="50" charset="-127"/>
              <a:ea typeface="Noto Sans KR Black" panose="020B0200000000000000" pitchFamily="50" charset="-127"/>
            </a:endParaRPr>
          </a:p>
        </p:txBody>
      </p:sp>
      <p:sp>
        <p:nvSpPr>
          <p:cNvPr id="2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latin typeface="Noto Sans KR Black" panose="020B0200000000000000" pitchFamily="50" charset="-127"/>
                <a:ea typeface="Noto Sans KR Black" panose="020B0200000000000000" pitchFamily="50" charset="-127"/>
              </a:rPr>
              <a:t>7</a:t>
            </a:fld>
            <a:endParaRPr lang="en-US">
              <a:latin typeface="Noto Sans KR Black" panose="020B0200000000000000" pitchFamily="50" charset="-127"/>
              <a:ea typeface="Noto Sans KR Black" panose="020B0200000000000000" pitchFamily="50" charset="-127"/>
            </a:endParaRPr>
          </a:p>
        </p:txBody>
      </p:sp>
    </p:spTree>
  </p:cSld>
  <p:clrMapOvr>
    <a:masterClrMapping/>
  </p:clrMapOvr>
</p:sld>
</file>

<file path=ppt/theme/theme1.xml><?xml version="1.0" encoding="utf-8"?>
<a:theme xmlns:a="http://schemas.openxmlformats.org/drawingml/2006/main" name="Beauty Mocha">
  <a:themeElements>
    <a:clrScheme name="Beauty Mocha">
      <a:dk1>
        <a:srgbClr val="2E2622"/>
      </a:dk1>
      <a:lt1>
        <a:srgbClr val="FBF8F3"/>
      </a:lt1>
      <a:dk2>
        <a:srgbClr val="5A4D43"/>
      </a:dk2>
      <a:lt2>
        <a:srgbClr val="F4EFE8"/>
      </a:lt2>
      <a:accent1>
        <a:srgbClr val="8F6654"/>
      </a:accent1>
      <a:accent2>
        <a:srgbClr val="A47864"/>
      </a:accent2>
      <a:accent3>
        <a:srgbClr val="7A5644"/>
      </a:accent3>
      <a:accent4>
        <a:srgbClr val="74665A"/>
      </a:accent4>
      <a:accent5>
        <a:srgbClr val="D6CABB"/>
      </a:accent5>
      <a:accent6>
        <a:srgbClr val="E9E1D6"/>
      </a:accent6>
      <a:hlink>
        <a:srgbClr val="7A5644"/>
      </a:hlink>
      <a:folHlink>
        <a:srgbClr val="74665A"/>
      </a:folHlink>
    </a:clrScheme>
    <a:fontScheme name="Beauty Mocha">
      <a:majorFont>
        <a:latin typeface="Batang"/>
        <a:ea typeface="Batang"/>
        <a:cs typeface=""/>
        <a:font script="Jpan" typeface="游ゴシック Light"/>
        <a:font script="Hang" typeface="Batang"/>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atang"/>
        <a:ea typeface="Batang"/>
        <a:cs typeface=""/>
        <a:font script="Jpan" typeface="游ゴシック"/>
        <a:font script="Hang" typeface="Batang"/>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TotalTime>
  <Words>1291</Words>
  <Application>Microsoft Office PowerPoint</Application>
  <PresentationFormat>와이드스크린</PresentationFormat>
  <Paragraphs>136</Paragraphs>
  <Slides>13</Slides>
  <Notes>13</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13</vt:i4>
      </vt:variant>
    </vt:vector>
  </HeadingPairs>
  <TitlesOfParts>
    <vt:vector size="18" baseType="lpstr">
      <vt:lpstr>Noto Sans KR Black</vt:lpstr>
      <vt:lpstr>맑은 고딕</vt:lpstr>
      <vt:lpstr>Batang</vt:lpstr>
      <vt:lpstr>Arial</vt:lpstr>
      <vt:lpstr>Beauty Mocha</vt:lpstr>
      <vt:lpstr>뷰티 스타일 AI 분석  인공지능 소프트웨어 / 오경민 </vt:lpstr>
      <vt:lpstr>이 머리, 뭐라고 부르죠?</vt:lpstr>
      <vt:lpstr>시연: 직접 써 보세요</vt:lpstr>
      <vt:lpstr>사진 한 장 → 일곱 가지 결과</vt:lpstr>
      <vt:lpstr>시술 요청서</vt:lpstr>
      <vt:lpstr>이런 분께 잘 어울려요</vt:lpstr>
      <vt:lpstr>내 얼굴 분석</vt:lpstr>
      <vt:lpstr>동작 방식</vt:lpstr>
      <vt:lpstr>확실할 때만 단정합니다</vt:lpstr>
      <vt:lpstr>결과: 53% → 75%</vt:lpstr>
      <vt:lpstr>배운 점: 라벨의 질이 양보다 중요했다</vt:lpstr>
      <vt:lpstr>한계와 다음 단계</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뷰티 스타일 AI 분석 발표</dc:title>
  <dc:subject>PptxGenJS Presentation</dc:subject>
  <dc:creator>PptxGenJS</dc:creator>
  <cp:lastModifiedBy>오 경민</cp:lastModifiedBy>
  <cp:revision>3</cp:revision>
  <dcterms:created xsi:type="dcterms:W3CDTF">2026-10-06T01:15:10Z</dcterms:created>
  <dcterms:modified xsi:type="dcterms:W3CDTF">2026-10-06T01:30:31Z</dcterms:modified>
</cp:coreProperties>
</file>