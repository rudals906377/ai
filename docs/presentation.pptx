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4B96E1F-02B1-C460-820F-6AB81763EC01}">
          <p14:sldIdLst>
            <p14:sldId id="256"/>
            <p14:sldId id="257"/>
            <p14:sldId id="258"/>
          </p14:sldIdLst>
        </p14:section>
        <p14:section name="결과 화면" id="{C1BA3FDD-760B-C11B-1F98-0B9DF76323F2}">
          <p14:sldIdLst>
            <p14:sldId id="259"/>
            <p14:sldId id="260"/>
          </p14:sldIdLst>
        </p14:section>
        <p14:section name="동작 방식과 성능" id="{27331B8C-31F7-9593-3B07-BDEEF99644C6}">
          <p14:sldIdLst>
            <p14:sldId id="261"/>
            <p14:sldId id="262"/>
            <p14:sldId id="263"/>
            <p14:sldId id="264"/>
          </p14:sldIdLst>
        </p14:section>
        <p14:section name="마무리" id="{63445476-BAFC-B2F0-E9C2-9E7A1A5F4527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1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E2622"/>
                </a:solidFill>
                <a:latin typeface="+mn-lt"/>
              </a:defRPr>
            </a:pPr>
            <a:r>
              <a:rPr lang="ko-KR" altLang="en-US" sz="1200" b="0" i="0" u="none" strike="noStrike" dirty="0">
                <a:solidFill>
                  <a:srgbClr val="2E2622"/>
                </a:solidFill>
                <a:latin typeface="+mn-lt"/>
              </a:rPr>
              <a:t>학습에 쓰지 않은 사진으로 잰 정확도 </a:t>
            </a:r>
            <a:r>
              <a:rPr lang="en-US" altLang="ko-KR" sz="1200" b="0" i="0" u="none" strike="noStrike" dirty="0">
                <a:solidFill>
                  <a:srgbClr val="2E2622"/>
                </a:solidFill>
                <a:latin typeface="+mn-lt"/>
              </a:rPr>
              <a:t>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제로샷</c:v>
                </c:pt>
              </c:strCache>
            </c:strRef>
          </c:tx>
          <c:spPr>
            <a:solidFill>
              <a:srgbClr val="D6CAB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4D43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속성 정확도</c:v>
                </c:pt>
                <c:pt idx="1">
                  <c:v>평가 세트</c:v>
                </c:pt>
                <c:pt idx="2">
                  <c:v>한국 스타일 사진</c:v>
                </c:pt>
                <c:pt idx="3">
                  <c:v>뷰티 사진 판별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58</c:v>
                </c:pt>
                <c:pt idx="2">
                  <c:v>53.2</c:v>
                </c:pt>
                <c:pt idx="3">
                  <c:v>80.099999999999994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E6-46AE-8F6B-4234467D18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기본 + 분류기</c:v>
                </c:pt>
              </c:strCache>
            </c:strRef>
          </c:tx>
          <c:spPr>
            <a:solidFill>
              <a:srgbClr val="A47864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4D43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속성 정확도</c:v>
                </c:pt>
                <c:pt idx="1">
                  <c:v>평가 세트</c:v>
                </c:pt>
                <c:pt idx="2">
                  <c:v>한국 스타일 사진</c:v>
                </c:pt>
                <c:pt idx="3">
                  <c:v>뷰티 사진 판별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73.400000000000006</c:v>
                </c:pt>
                <c:pt idx="1">
                  <c:v>75.099999999999994</c:v>
                </c:pt>
                <c:pt idx="2">
                  <c:v>72.3</c:v>
                </c:pt>
                <c:pt idx="3">
                  <c:v>95.8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E6-46AE-8F6B-4234467D18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정밀 + 분류기</c:v>
                </c:pt>
              </c:strCache>
            </c:strRef>
          </c:tx>
          <c:spPr>
            <a:solidFill>
              <a:srgbClr val="5A4D4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5A4D43"/>
                    </a:solidFill>
                    <a:latin typeface="+mn-lt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속성 정확도</c:v>
                </c:pt>
                <c:pt idx="1">
                  <c:v>평가 세트</c:v>
                </c:pt>
                <c:pt idx="2">
                  <c:v>한국 스타일 사진</c:v>
                </c:pt>
                <c:pt idx="3">
                  <c:v>뷰티 사진 판별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75.400000000000006</c:v>
                </c:pt>
                <c:pt idx="1">
                  <c:v>78</c:v>
                </c:pt>
                <c:pt idx="2">
                  <c:v>74.5</c:v>
                </c:pt>
                <c:pt idx="3">
                  <c:v>94.8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E6-46AE-8F6B-4234467D18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4D43"/>
                </a:solidFill>
                <a:latin typeface="+mn-lt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9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4665A"/>
                </a:solidFill>
                <a:latin typeface="+mn-lt"/>
              </a:defRPr>
            </a:pPr>
            <a:endParaRPr lang="ko-KR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4D43"/>
              </a:solidFill>
              <a:latin typeface="+mn-lt"/>
              <a:cs typeface="+mn-lt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173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사진 한 장으로 헤어, 네일, 메이크업, 타투 스타일을 한국어로 설명해 주는 뷰티 스타일 AI 분석을 발표하겠습니다. 오른쪽이 실제 화면입니다.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미용실이나 네일숍에서 사진을 보여 주면서 이렇게 해 주세요 해 보신 적 있으실 거예요. 그런데 이 머리가 허쉬컷인지 레이어드컷인지, 이 네일이 자석인지 크롬인지 이름을 모르면 검색도, 설명도 어렵습니다. 그래서 사진 한 장을 넣으면 스타일을 한국어 이름과 문장으로 설명해 주는 AI 를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[시연 순서] 1. 예시 헤어 사진 클릭: 장르 레이어드컷 + S컬펌, 트렌드 키워드와 설명 문장이 나옵니다. 2. 문장 끝의 말투: 확실할 때만 "~예요", 애매하면 "~로 보여요". 단정한 문장은 96% 맞습니다. 3. 속성별 판단 근거 막대: 확률과 다음 후보, 틀리면 "수정". 4. 시술 요청서 → 이미지로 저장: 확실한 항목은 표, 애매한 항목은 "상담 때 정할 것", 사진 속 머리 색 약 3레벨. 5. 내 사진 올리기: 사진은 서버로 가지 않습니다. 6. 네일 탭 → 사진 클릭, 비슷한 스타일 한 장 클릭. 시연이 안 되면 다음 슬라이드들의 화면으로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시연이 안 될 때는 이 화면으로 설명합니다. 사진 한 장을 넣으면 장르와 트렌드 키워드, 설명 문장, 사진 속 실제 색, 시술 요청서, 이 스타일이 잘 어울리는 사람 추천, 비슷한 예시 스타일, 그리고 용어 설명까지 일곱 가지가 나옵니다. 분류명은 한국 매거진과 살롱, 커뮤니티 용어 약 440개를 조사해서 정한 324개입니다.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미용실에 그대로 보여 줄 수 있는 시술 요청서입니다. 확실한 항목은 표로 보여 주고, 애매한 항목은 상담 때 정할 것으로 따로 나눕니다. 사진에서 머리카락 부분만 찾아 실제 색을 뽑아서 약 3레벨처럼 알려 줍니다. 이미지로 저장하면 이렇게 한 장으로 나오고, 휴대폰에서는 카카오톡 같은 공유 창이 바로 열립니다.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Transformers.js 입니다. Hugging Face 모델을 서버 없이 브라우저에서 바로 돌리는 라이브러리입니다. 사진을 SigLIP 계열 비전 모델에 한 번 넣으면 숫자 벡터가 나옵니다. 이 벡터를 라벨 324개의 영어 설명 문장 벡터와 비교하는 것이 제로샷 분류입니다. 여기에 라벨을 단 사진 약 2천 장으로 학습한 작은 분류기를 얹었고, 표시 확률이 실제 적중률과 맞도록 보정했습니다. 설명 문장은 생성형 AI 가 아니라 규칙으로 조립해서 없는 내용을 지어내지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정확도 숫자 하나보다 신경 쓴 것은 확실할 때만 단정하는 것입니다. 확률을 실제 적중률에 맞게 보정해서, 90% 이상일 때만 "~예요"라고 단정합니다. 이렇게 단정한 문장은 96% 맞습니다. 50에서 90% 사이는 "~로 보여요"라고 말하고, 50% 미만은 맞을 확률이 절반도 안 되기 때문에 문장에서 빼고 후보 막대로만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6개를 같은 시험 사진으로 비교해서 골랐습니다. 제로샷만 쓰면 53% 였는데, 분류기를 얹어 73에서 78% 가 됐습니다. 모든 숫자는 학습에 쓰지 않은 사진으로 잰 값입니다. 75% 가 낮아 보일 수 있는데, 라벨이 324개로 세밀해서 사람 두 명이 같은 사진에 라벨을 달아도 92% 만 일치합니다. 그래서 이것이 사실상 상한이고, 대신 확실할 때만 단정하는 데 집중했습니다.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크게 배운 점은 라벨의 질이 양보다 중요하다는 것입니다. 검색어로 자동 라벨을 단 1만 장은 효과가 없었고, 사진을 직접 보고 단 280장이 5.9%p 를 올렸습니다. 한국 스타일 사진 98장을 더하자 한국 사진 정확도가 67% 에서 77% 로 올랐습니다. 라벨 기준이 다른 데이터를 섞으면 오히려 떨어져서, 항목마다 효과를 재서 골라 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한계도 분명합니다. 메이크업은 67% 로 아직 약하고, 학습 사진이 서양 위주입니다. 라벨도 현장 전문가가 아직 검수하지 않았습니다. 그래서 현장 전문가가 결과를 채점하는 검수 도구를 만들어 두었습니다. 항목마다 맞음, 틀림을 누르고 정답을 고르면 그 결과로 바로 다시 학습할 수 있습니다. 다음 단계는 전문가 검수와 한국 사진을 늘려 다시 학습하는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QR 을 찍으시면 지금 바로 휴대폰에서 써 보실 수 있습니다. 질문 받겠습니다. (예상 질문과 답은 docs/PRESENTATION.md 에 있습니다: 제로샷이 뭔지, 직접 학습한 분류기, 정확도 75% 인 이유, 확률 보정, Transformers.js 사용 위치)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아래에는 이 스타일이 어떤 분께 잘 어울리는지도 추천합니다. 헤어는 얼굴형, 퍼스널 컬러, 어깨선, 체형, 모질, 추구미처럼 분야에 맞는 기준으로 보고, 메이크업은 눈매와 피부 유형, 네일은 손 모양, 타투는 피부 톤과 부위를 봅니다. 확신이 50% 이상인 특징만 근거로 쓰고, 카드마다 어떤 특징을 근거로 했는지 보여 줍니다. 사진 속 사람의 얼굴이나 체형을 판단하는 게 아니라, 스타일의 특징에 일반적인 스타일링 기준을 적용한 추천입니다.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600200"/>
            <a:ext cx="539496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00000"/>
              </a:lnSpc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6000" b="1" dirty="0">
                <a:solidFill>
                  <a:schemeClr val="tx1"/>
                </a:solidFill>
              </a:rPr>
              <a:t>제목</a:t>
            </a: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874520"/>
            <a:ext cx="106372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제목</a:t>
            </a: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뷰티 스타일 AI 분석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제목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뷰티 스타일 AI 분석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제목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463040"/>
            <a:ext cx="66751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제목</a:t>
            </a: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
<Relationships xmlns="http://schemas.openxmlformats.org/package/2006/relationships"><Relationship Id="rId4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27539" y="2354580"/>
            <a:ext cx="51435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뷰티 스타일</a:t>
            </a:r>
            <a:r>
              <a:rPr lang="ko-KR" altLang="en-US" sz="3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AI 분석</a:t>
            </a:r>
            <a:br>
              <a:rPr lang="en-US" altLang="ko-KR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br>
              <a:rPr lang="en-US" altLang="ko-KR" sz="12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</a:br>
            <a:r>
              <a:rPr lang="ko-KR" altLang="en-US" sz="12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인공지능 소프트웨어 / 오경민</a:t>
            </a:r>
            <a:br>
              <a:rPr lang="ko-KR" altLang="ko-KR" sz="3600" dirty="0"/>
            </a:br>
            <a:endParaRPr lang="ko-KR" sz="3600" dirty="0"/>
          </a:p>
        </p:txBody>
      </p:sp>
      <p:pic>
        <p:nvPicPr>
          <p:cNvPr id="5" name="shot-3" descr="뷰티 스타일 AI 분석 화면: 긴 머리 사진 옆에 레이어드컷 + S컬펌 장르와 설명이 나온 모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846" y="624253"/>
            <a:ext cx="7444154" cy="5794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77240" y="187452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54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머리, 뭐라고 부르죠?</a:t>
            </a:r>
            <a:endParaRPr lang="ko-KR" sz="5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-6"/>
          <p:cNvSpPr txBox="1"/>
          <p:nvPr/>
        </p:nvSpPr>
        <p:spPr>
          <a:xfrm>
            <a:off x="77724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허쉬컷일까 레이어드컷일까, 자석 네일일까 크롬 네일일까. </a:t>
            </a:r>
            <a:endParaRPr lang="en-US" altLang="ko-KR" sz="20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ko-KR" altLang="en-US" sz="20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이름을 모르면 검색도, 미용실에서 설명하기도 어렵습니다.</a:t>
            </a:r>
            <a:endParaRPr lang="ko-KR" sz="2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-7"/>
          <p:cNvSpPr txBox="1"/>
          <p:nvPr/>
        </p:nvSpPr>
        <p:spPr>
          <a:xfrm>
            <a:off x="777240" y="457200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2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한 장 → 한국어 이름과 문장으로 설명하는 AI</a:t>
            </a:r>
            <a:endParaRPr lang="ko-KR" sz="2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시연: 직접 써 보세요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-8"/>
          <p:cNvSpPr txBox="1"/>
          <p:nvPr/>
        </p:nvSpPr>
        <p:spPr>
          <a:xfrm>
            <a:off x="777240" y="2451847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ko-KR" altLang="en-US" sz="18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휴대폰 카메라로 QR 을 찍으면 바로 열립니다. </a:t>
            </a:r>
            <a:endParaRPr lang="en-US" altLang="ko-KR" sz="1800" dirty="0">
              <a:solidFill>
                <a:schemeClr val="tx2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card-9"/>
          <p:cNvSpPr/>
          <p:nvPr/>
        </p:nvSpPr>
        <p:spPr>
          <a:xfrm>
            <a:off x="777240" y="3154680"/>
            <a:ext cx="64008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10"/>
          <p:cNvSpPr txBox="1"/>
          <p:nvPr/>
        </p:nvSpPr>
        <p:spPr>
          <a:xfrm>
            <a:off x="1051560" y="3154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</a:rPr>
              <a:t>huggingface.co/spaces/kyoungminOh/beauty-style-ai</a:t>
            </a:r>
            <a:endParaRPr lang="ko-KR" sz="1400" dirty="0"/>
          </a:p>
        </p:txBody>
      </p:sp>
      <p:sp>
        <p:nvSpPr>
          <p:cNvPr id="6" name="text-11"/>
          <p:cNvSpPr txBox="1"/>
          <p:nvPr/>
        </p:nvSpPr>
        <p:spPr>
          <a:xfrm>
            <a:off x="77724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사진 100장 · 내 사진 올리기 · 휴대폰으로 바로 찍기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card-12"/>
          <p:cNvSpPr/>
          <p:nvPr/>
        </p:nvSpPr>
        <p:spPr>
          <a:xfrm>
            <a:off x="8001000" y="1600200"/>
            <a:ext cx="3410712" cy="3977640"/>
          </a:xfrm>
          <a:prstGeom prst="roundRect">
            <a:avLst>
              <a:gd name="adj" fmla="val 32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qr-13" descr="데모 사이트 QR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828800"/>
            <a:ext cx="2834640" cy="2834640"/>
          </a:xfrm>
          <a:prstGeom prst="rect">
            <a:avLst/>
          </a:prstGeom>
        </p:spPr>
      </p:pic>
      <p:sp>
        <p:nvSpPr>
          <p:cNvPr id="9" name="text-14"/>
          <p:cNvSpPr txBox="1"/>
          <p:nvPr/>
        </p:nvSpPr>
        <p:spPr>
          <a:xfrm>
            <a:off x="8001000" y="484632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chemeClr val="accent4"/>
                </a:solidFill>
              </a:rPr>
              <a:t>QR 을 찍어 열기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한 장 → 일곱 가지 결과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" name="shot-15" descr="분석 결과 화면: 장르 카드, 트렌드 키워드, 설명 문장, 사진 속 색, 시술 요청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6309360" cy="3943350"/>
          </a:xfrm>
          <a:prstGeom prst="rect">
            <a:avLst/>
          </a:prstGeom>
        </p:spPr>
      </p:pic>
      <p:sp>
        <p:nvSpPr>
          <p:cNvPr id="4" name="frame-16"/>
          <p:cNvSpPr/>
          <p:nvPr/>
        </p:nvSpPr>
        <p:spPr>
          <a:xfrm>
            <a:off x="777240" y="1600200"/>
            <a:ext cx="6309360" cy="3943350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5" name="text-17"/>
          <p:cNvSpPr txBox="1"/>
          <p:nvPr/>
        </p:nvSpPr>
        <p:spPr>
          <a:xfrm>
            <a:off x="7406640" y="160020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장르 · 트렌드 키워드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18"/>
          <p:cNvSpPr txBox="1"/>
          <p:nvPr/>
        </p:nvSpPr>
        <p:spPr>
          <a:xfrm>
            <a:off x="7406640" y="188366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레이어드컷 + S컬펌 · #레이어드펌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rule-19"/>
          <p:cNvSpPr/>
          <p:nvPr/>
        </p:nvSpPr>
        <p:spPr>
          <a:xfrm>
            <a:off x="7406640" y="2176272"/>
            <a:ext cx="40050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-20"/>
          <p:cNvSpPr txBox="1"/>
          <p:nvPr/>
        </p:nvSpPr>
        <p:spPr>
          <a:xfrm>
            <a:off x="7406640" y="220370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설명 문장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-21"/>
          <p:cNvSpPr txBox="1"/>
          <p:nvPr/>
        </p:nvSpPr>
        <p:spPr>
          <a:xfrm>
            <a:off x="7406640" y="24871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확신 정도에 따라 말투가 달라짐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rule-22"/>
          <p:cNvSpPr/>
          <p:nvPr/>
        </p:nvSpPr>
        <p:spPr>
          <a:xfrm>
            <a:off x="7406640" y="2779776"/>
            <a:ext cx="40050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-23"/>
          <p:cNvSpPr txBox="1"/>
          <p:nvPr/>
        </p:nvSpPr>
        <p:spPr>
          <a:xfrm>
            <a:off x="7406640" y="2807208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속 색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-24"/>
          <p:cNvSpPr txBox="1"/>
          <p:nvPr/>
        </p:nvSpPr>
        <p:spPr>
          <a:xfrm>
            <a:off x="7406640" y="309067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머리카락만 골라 실제 색 · 약 3레벨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rule-25"/>
          <p:cNvSpPr/>
          <p:nvPr/>
        </p:nvSpPr>
        <p:spPr>
          <a:xfrm>
            <a:off x="7406640" y="3383280"/>
            <a:ext cx="40050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-26"/>
          <p:cNvSpPr txBox="1"/>
          <p:nvPr/>
        </p:nvSpPr>
        <p:spPr>
          <a:xfrm>
            <a:off x="7406640" y="3410712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시술 요청서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-27"/>
          <p:cNvSpPr txBox="1"/>
          <p:nvPr/>
        </p:nvSpPr>
        <p:spPr>
          <a:xfrm>
            <a:off x="7406640" y="369417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매장에 보여 줄 요약 · 이미지 저장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rule-28"/>
          <p:cNvSpPr/>
          <p:nvPr/>
        </p:nvSpPr>
        <p:spPr>
          <a:xfrm>
            <a:off x="7406640" y="3986784"/>
            <a:ext cx="40050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-34"/>
          <p:cNvSpPr txBox="1"/>
          <p:nvPr/>
        </p:nvSpPr>
        <p:spPr>
          <a:xfrm>
            <a:off x="7406640" y="4014216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이런 분께 잘 어울려요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text-35"/>
          <p:cNvSpPr txBox="1"/>
          <p:nvPr/>
        </p:nvSpPr>
        <p:spPr>
          <a:xfrm>
            <a:off x="7406640" y="429768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얼굴형 · 퍼스널 컬러 · 체형별 추천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rule-36"/>
          <p:cNvSpPr/>
          <p:nvPr/>
        </p:nvSpPr>
        <p:spPr>
          <a:xfrm>
            <a:off x="7406640" y="4590288"/>
            <a:ext cx="40050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-29"/>
          <p:cNvSpPr txBox="1"/>
          <p:nvPr/>
        </p:nvSpPr>
        <p:spPr>
          <a:xfrm>
            <a:off x="7406640" y="4617720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비슷한 스타일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text-30"/>
          <p:cNvSpPr txBox="1"/>
          <p:nvPr/>
        </p:nvSpPr>
        <p:spPr>
          <a:xfrm>
            <a:off x="7406640" y="4901184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사진 중 닮은 3장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rule-31"/>
          <p:cNvSpPr/>
          <p:nvPr/>
        </p:nvSpPr>
        <p:spPr>
          <a:xfrm>
            <a:off x="7406640" y="5193792"/>
            <a:ext cx="40050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-32"/>
          <p:cNvSpPr txBox="1"/>
          <p:nvPr/>
        </p:nvSpPr>
        <p:spPr>
          <a:xfrm>
            <a:off x="7406640" y="5221224"/>
            <a:ext cx="4005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용어 설명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text-33"/>
          <p:cNvSpPr txBox="1"/>
          <p:nvPr/>
        </p:nvSpPr>
        <p:spPr>
          <a:xfrm>
            <a:off x="7406640" y="550468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라벨 324개마다 한 줄 정의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시술 요청서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card-34"/>
          <p:cNvSpPr/>
          <p:nvPr/>
        </p:nvSpPr>
        <p:spPr>
          <a:xfrm>
            <a:off x="777240" y="1554480"/>
            <a:ext cx="2514600" cy="45262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pic>
        <p:nvPicPr>
          <p:cNvPr id="4" name="order-35" descr="이미지로 저장한 시술 요청서: 사진, 원하는 스타일, 커트 · 기장 · 앞머리 · 컬러 표와 참고 안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1645920"/>
            <a:ext cx="2114093" cy="4343400"/>
          </a:xfrm>
          <a:prstGeom prst="rect">
            <a:avLst/>
          </a:prstGeom>
        </p:spPr>
      </p:pic>
      <p:sp>
        <p:nvSpPr>
          <p:cNvPr id="5" name="text-36"/>
          <p:cNvSpPr txBox="1"/>
          <p:nvPr/>
        </p:nvSpPr>
        <p:spPr>
          <a:xfrm>
            <a:off x="3657600" y="1600200"/>
            <a:ext cx="7754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미용실 · 네일숍 · 타투숍에 그대로 보여 주는 요약입니다.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card-37"/>
          <p:cNvSpPr/>
          <p:nvPr/>
        </p:nvSpPr>
        <p:spPr>
          <a:xfrm>
            <a:off x="3657600" y="2194560"/>
            <a:ext cx="7754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-38"/>
          <p:cNvSpPr txBox="1"/>
          <p:nvPr/>
        </p:nvSpPr>
        <p:spPr>
          <a:xfrm>
            <a:off x="3931920" y="2350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확실한 항목은 표로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-39"/>
          <p:cNvSpPr txBox="1"/>
          <p:nvPr/>
        </p:nvSpPr>
        <p:spPr>
          <a:xfrm>
            <a:off x="3931920" y="27157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커트 레이어드컷 · 기장 긴머리 · 앞머리 커튼뱅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card-40"/>
          <p:cNvSpPr/>
          <p:nvPr/>
        </p:nvSpPr>
        <p:spPr>
          <a:xfrm>
            <a:off x="3657600" y="3291840"/>
            <a:ext cx="7754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-41"/>
          <p:cNvSpPr txBox="1"/>
          <p:nvPr/>
        </p:nvSpPr>
        <p:spPr>
          <a:xfrm>
            <a:off x="3931920" y="34472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애매한 항목은 따로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-42"/>
          <p:cNvSpPr txBox="1"/>
          <p:nvPr/>
        </p:nvSpPr>
        <p:spPr>
          <a:xfrm>
            <a:off x="3931920" y="3813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"상담 때 정할 것"으로 빼서 잘못 전달되지 않게 합니다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card-43"/>
          <p:cNvSpPr/>
          <p:nvPr/>
        </p:nvSpPr>
        <p:spPr>
          <a:xfrm>
            <a:off x="3657600" y="4389120"/>
            <a:ext cx="7754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-44"/>
          <p:cNvSpPr txBox="1"/>
          <p:nvPr/>
        </p:nvSpPr>
        <p:spPr>
          <a:xfrm>
            <a:off x="3931920" y="4544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속 실제 색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-45"/>
          <p:cNvSpPr txBox="1"/>
          <p:nvPr/>
        </p:nvSpPr>
        <p:spPr>
          <a:xfrm>
            <a:off x="3931920" y="49103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머리카락 부분만 골라 뽑은 색 · 다크브라운 계열 · 약 3레벨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-46"/>
          <p:cNvSpPr txBox="1"/>
          <p:nvPr/>
        </p:nvSpPr>
        <p:spPr>
          <a:xfrm>
            <a:off x="3657600" y="5577840"/>
            <a:ext cx="7754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복사하거나 이미지로 저장하고, 휴대폰에서는 공유 창으로 바로 보냅니다.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5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동작 방식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card-47"/>
          <p:cNvSpPr/>
          <p:nvPr/>
        </p:nvSpPr>
        <p:spPr>
          <a:xfrm>
            <a:off x="777240" y="1645920"/>
            <a:ext cx="2212848" cy="2377440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" name="step-48"/>
          <p:cNvSpPr/>
          <p:nvPr/>
        </p:nvSpPr>
        <p:spPr>
          <a:xfrm>
            <a:off x="1005840" y="1874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-49"/>
          <p:cNvSpPr txBox="1"/>
          <p:nvPr/>
        </p:nvSpPr>
        <p:spPr>
          <a:xfrm>
            <a:off x="10058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50"/>
          <p:cNvSpPr txBox="1"/>
          <p:nvPr/>
        </p:nvSpPr>
        <p:spPr>
          <a:xfrm>
            <a:off x="1005840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1장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-51"/>
          <p:cNvSpPr txBox="1"/>
          <p:nvPr/>
        </p:nvSpPr>
        <p:spPr>
          <a:xfrm>
            <a:off x="1005840" y="2880360"/>
            <a:ext cx="1801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업로드 · 촬영 · 예시 사진</a:t>
            </a:r>
            <a:endParaRPr 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arrow-52"/>
          <p:cNvSpPr/>
          <p:nvPr/>
        </p:nvSpPr>
        <p:spPr>
          <a:xfrm>
            <a:off x="3099816" y="2715768"/>
            <a:ext cx="365760" cy="23774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card-53"/>
          <p:cNvSpPr/>
          <p:nvPr/>
        </p:nvSpPr>
        <p:spPr>
          <a:xfrm>
            <a:off x="3575304" y="1645920"/>
            <a:ext cx="2212848" cy="2377440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step-54"/>
          <p:cNvSpPr/>
          <p:nvPr/>
        </p:nvSpPr>
        <p:spPr>
          <a:xfrm>
            <a:off x="3803904" y="1874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-55"/>
          <p:cNvSpPr txBox="1"/>
          <p:nvPr/>
        </p:nvSpPr>
        <p:spPr>
          <a:xfrm>
            <a:off x="3803904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-56"/>
          <p:cNvSpPr txBox="1"/>
          <p:nvPr/>
        </p:nvSpPr>
        <p:spPr>
          <a:xfrm>
            <a:off x="3803904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비전 모델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text-57"/>
          <p:cNvSpPr txBox="1"/>
          <p:nvPr/>
        </p:nvSpPr>
        <p:spPr>
          <a:xfrm>
            <a:off x="3803904" y="2880360"/>
            <a:ext cx="1801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SigLIP 계열을 Transformers.js 로 브라우저에서 실행 </a:t>
            </a:r>
            <a:endParaRPr lang="en-US" altLang="ko-KR" sz="1200" dirty="0">
              <a:solidFill>
                <a:schemeClr val="tx2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2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→ 숫자 벡터</a:t>
            </a:r>
            <a:endParaRPr 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arrow-58"/>
          <p:cNvSpPr/>
          <p:nvPr/>
        </p:nvSpPr>
        <p:spPr>
          <a:xfrm>
            <a:off x="5897880" y="2715768"/>
            <a:ext cx="365760" cy="23774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card-59"/>
          <p:cNvSpPr/>
          <p:nvPr/>
        </p:nvSpPr>
        <p:spPr>
          <a:xfrm>
            <a:off x="6373368" y="1645920"/>
            <a:ext cx="2212848" cy="2377440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6" name="step-60"/>
          <p:cNvSpPr/>
          <p:nvPr/>
        </p:nvSpPr>
        <p:spPr>
          <a:xfrm>
            <a:off x="6601968" y="1874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-61"/>
          <p:cNvSpPr txBox="1"/>
          <p:nvPr/>
        </p:nvSpPr>
        <p:spPr>
          <a:xfrm>
            <a:off x="660196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text-62"/>
          <p:cNvSpPr txBox="1"/>
          <p:nvPr/>
        </p:nvSpPr>
        <p:spPr>
          <a:xfrm>
            <a:off x="6601968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판단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text-63"/>
          <p:cNvSpPr txBox="1"/>
          <p:nvPr/>
        </p:nvSpPr>
        <p:spPr>
          <a:xfrm>
            <a:off x="6601968" y="2880360"/>
            <a:ext cx="1801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라벨 324개 문장과 비교한 </a:t>
            </a:r>
            <a:r>
              <a:rPr lang="ko-KR" altLang="en-US" sz="1400" dirty="0" err="1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제로샷</a:t>
            </a: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endParaRPr lang="en-US" altLang="ko-KR" sz="1400" dirty="0">
              <a:solidFill>
                <a:schemeClr val="tx2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+ 직접 학습한 분류기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arrow-64"/>
          <p:cNvSpPr/>
          <p:nvPr/>
        </p:nvSpPr>
        <p:spPr>
          <a:xfrm>
            <a:off x="8695944" y="2715768"/>
            <a:ext cx="365760" cy="237744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card-65"/>
          <p:cNvSpPr/>
          <p:nvPr/>
        </p:nvSpPr>
        <p:spPr>
          <a:xfrm>
            <a:off x="9171432" y="1645920"/>
            <a:ext cx="2212848" cy="2377440"/>
          </a:xfrm>
          <a:prstGeom prst="roundRect">
            <a:avLst>
              <a:gd name="adj" fmla="val 4959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step-66"/>
          <p:cNvSpPr/>
          <p:nvPr/>
        </p:nvSpPr>
        <p:spPr>
          <a:xfrm>
            <a:off x="9400032" y="187452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-67"/>
          <p:cNvSpPr txBox="1"/>
          <p:nvPr/>
        </p:nvSpPr>
        <p:spPr>
          <a:xfrm>
            <a:off x="9400032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4" name="text-68"/>
          <p:cNvSpPr txBox="1"/>
          <p:nvPr/>
        </p:nvSpPr>
        <p:spPr>
          <a:xfrm>
            <a:off x="9400032" y="2468880"/>
            <a:ext cx="1801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문장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text-69"/>
          <p:cNvSpPr txBox="1"/>
          <p:nvPr/>
        </p:nvSpPr>
        <p:spPr>
          <a:xfrm>
            <a:off x="9400032" y="2880360"/>
            <a:ext cx="18013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확률 보정 후 </a:t>
            </a:r>
            <a:endParaRPr lang="en-US" altLang="ko-KR" sz="1400" dirty="0">
              <a:solidFill>
                <a:schemeClr val="tx2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＂ ~예요 " </a:t>
            </a:r>
            <a:endParaRPr lang="en-US" altLang="ko-KR" sz="1400" dirty="0">
              <a:solidFill>
                <a:schemeClr val="tx2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＂ ~로 보여요 "  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card-70"/>
          <p:cNvSpPr/>
          <p:nvPr/>
        </p:nvSpPr>
        <p:spPr>
          <a:xfrm>
            <a:off x="777240" y="4343400"/>
            <a:ext cx="3364992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27" name="text-71"/>
          <p:cNvSpPr txBox="1"/>
          <p:nvPr/>
        </p:nvSpPr>
        <p:spPr>
          <a:xfrm>
            <a:off x="1051560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서버 없음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text-72"/>
          <p:cNvSpPr txBox="1"/>
          <p:nvPr/>
        </p:nvSpPr>
        <p:spPr>
          <a:xfrm>
            <a:off x="1051560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사진이 기기 밖으로 나가지 않음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9" name="card-73"/>
          <p:cNvSpPr/>
          <p:nvPr/>
        </p:nvSpPr>
        <p:spPr>
          <a:xfrm>
            <a:off x="4416552" y="4343400"/>
            <a:ext cx="3364992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30" name="text-74"/>
          <p:cNvSpPr txBox="1"/>
          <p:nvPr/>
        </p:nvSpPr>
        <p:spPr>
          <a:xfrm>
            <a:off x="4690872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94MB, 한 번만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1" name="text-75"/>
          <p:cNvSpPr txBox="1"/>
          <p:nvPr/>
        </p:nvSpPr>
        <p:spPr>
          <a:xfrm>
            <a:off x="4690872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처음 접속 때 내려받고 캐시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2" name="card-76"/>
          <p:cNvSpPr/>
          <p:nvPr/>
        </p:nvSpPr>
        <p:spPr>
          <a:xfrm>
            <a:off x="8055864" y="4343400"/>
            <a:ext cx="3364992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33" name="text-77"/>
          <p:cNvSpPr txBox="1"/>
          <p:nvPr/>
        </p:nvSpPr>
        <p:spPr>
          <a:xfrm>
            <a:off x="8330184" y="4526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 0.6초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4" name="text-78"/>
          <p:cNvSpPr txBox="1"/>
          <p:nvPr/>
        </p:nvSpPr>
        <p:spPr>
          <a:xfrm>
            <a:off x="8330184" y="4956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1장 분석 (일반 CPU)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확실할 때만 단정합니다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-79"/>
          <p:cNvSpPr txBox="1"/>
          <p:nvPr/>
        </p:nvSpPr>
        <p:spPr>
          <a:xfrm>
            <a:off x="777240" y="14630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확률을 실제 적중률에 맞게 보정한 뒤, 확신 정도에 따라 말투를 바꿉니다.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card-80"/>
          <p:cNvSpPr/>
          <p:nvPr/>
        </p:nvSpPr>
        <p:spPr>
          <a:xfrm>
            <a:off x="777240" y="2103120"/>
            <a:ext cx="336499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5" name="text-81"/>
          <p:cNvSpPr txBox="1"/>
          <p:nvPr/>
        </p:nvSpPr>
        <p:spPr>
          <a:xfrm>
            <a:off x="10972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확률 90% 이상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82"/>
          <p:cNvSpPr txBox="1"/>
          <p:nvPr/>
        </p:nvSpPr>
        <p:spPr>
          <a:xfrm>
            <a:off x="109728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54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96%</a:t>
            </a:r>
            <a:endParaRPr lang="ko-KR" sz="5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-83"/>
          <p:cNvSpPr txBox="1"/>
          <p:nvPr/>
        </p:nvSpPr>
        <p:spPr>
          <a:xfrm>
            <a:off x="109728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"~예요"로 단정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-84"/>
          <p:cNvSpPr txBox="1"/>
          <p:nvPr/>
        </p:nvSpPr>
        <p:spPr>
          <a:xfrm>
            <a:off x="1097280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단정한 문장 중 맞은 비율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card-85"/>
          <p:cNvSpPr/>
          <p:nvPr/>
        </p:nvSpPr>
        <p:spPr>
          <a:xfrm>
            <a:off x="4416552" y="2103120"/>
            <a:ext cx="336499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0" name="text-86"/>
          <p:cNvSpPr txBox="1"/>
          <p:nvPr/>
        </p:nvSpPr>
        <p:spPr>
          <a:xfrm>
            <a:off x="4736592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50~90%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-87"/>
          <p:cNvSpPr txBox="1"/>
          <p:nvPr/>
        </p:nvSpPr>
        <p:spPr>
          <a:xfrm>
            <a:off x="4736592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54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74%</a:t>
            </a:r>
            <a:endParaRPr lang="ko-KR" sz="5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-88"/>
          <p:cNvSpPr txBox="1"/>
          <p:nvPr/>
        </p:nvSpPr>
        <p:spPr>
          <a:xfrm>
            <a:off x="4736592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"~로 보여요"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text-89"/>
          <p:cNvSpPr txBox="1"/>
          <p:nvPr/>
        </p:nvSpPr>
        <p:spPr>
          <a:xfrm>
            <a:off x="4736592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가능성이 높을 때만 문장에 넣음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card-90"/>
          <p:cNvSpPr/>
          <p:nvPr/>
        </p:nvSpPr>
        <p:spPr>
          <a:xfrm>
            <a:off x="8055864" y="2103120"/>
            <a:ext cx="3364992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</p:spPr>
      </p:sp>
      <p:sp>
        <p:nvSpPr>
          <p:cNvPr id="15" name="text-91"/>
          <p:cNvSpPr txBox="1"/>
          <p:nvPr/>
        </p:nvSpPr>
        <p:spPr>
          <a:xfrm>
            <a:off x="8375904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50% 미만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-92"/>
          <p:cNvSpPr txBox="1"/>
          <p:nvPr/>
        </p:nvSpPr>
        <p:spPr>
          <a:xfrm>
            <a:off x="8375904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5400" b="1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48%</a:t>
            </a:r>
            <a:endParaRPr lang="ko-KR" sz="5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text-93"/>
          <p:cNvSpPr txBox="1"/>
          <p:nvPr/>
        </p:nvSpPr>
        <p:spPr>
          <a:xfrm>
            <a:off x="8375904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문장에서 뺌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text-94"/>
          <p:cNvSpPr txBox="1"/>
          <p:nvPr/>
        </p:nvSpPr>
        <p:spPr>
          <a:xfrm>
            <a:off x="8375904" y="4251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믿기 어려우니 후보 막대로만 보여 줌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text-95"/>
          <p:cNvSpPr txBox="1"/>
          <p:nvPr/>
        </p:nvSpPr>
        <p:spPr>
          <a:xfrm>
            <a:off x="777240" y="55321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학습에 쓰지 않은 사진으로 잰 적중률 · 기본 모델 96.3% / 73.5% / 47.5%, 정밀 모델 96.9% / 74.5% / 47.6%</a:t>
            </a:r>
            <a:endParaRPr lang="ko-KR" sz="11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8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결과: 53% → 75%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3" name="chart-96"/>
          <p:cNvGraphicFramePr/>
          <p:nvPr>
            <p:extLst>
              <p:ext uri="{D42A27DB-BD31-4B8C-83A1-F6EECF244321}">
                <p14:modId xmlns:p14="http://schemas.microsoft.com/office/powerpoint/2010/main" val="3342882380"/>
              </p:ext>
            </p:extLst>
          </p:nvPr>
        </p:nvGraphicFramePr>
        <p:xfrm>
          <a:off x="777240" y="150876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-97"/>
          <p:cNvSpPr/>
          <p:nvPr/>
        </p:nvSpPr>
        <p:spPr>
          <a:xfrm>
            <a:off x="8001000" y="1600200"/>
            <a:ext cx="3410712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/>
        </p:spPr>
      </p:sp>
      <p:sp>
        <p:nvSpPr>
          <p:cNvPr id="5" name="text-98"/>
          <p:cNvSpPr txBox="1"/>
          <p:nvPr/>
        </p:nvSpPr>
        <p:spPr>
          <a:xfrm>
            <a:off x="8275320" y="1801368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모델 6종 비교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99"/>
          <p:cNvSpPr txBox="1"/>
          <p:nvPr/>
        </p:nvSpPr>
        <p:spPr>
          <a:xfrm>
            <a:off x="8275320" y="2240280"/>
            <a:ext cx="28620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CLIP · SigLIP · FashionSigLIP 등을 같은 시험 사진으로 비교해 기본 모델을 골랐습니다.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card-100"/>
          <p:cNvSpPr/>
          <p:nvPr/>
        </p:nvSpPr>
        <p:spPr>
          <a:xfrm>
            <a:off x="8001000" y="3794760"/>
            <a:ext cx="341071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</p:spPr>
      </p:sp>
      <p:sp>
        <p:nvSpPr>
          <p:cNvPr id="8" name="text-101"/>
          <p:cNvSpPr txBox="1"/>
          <p:nvPr/>
        </p:nvSpPr>
        <p:spPr>
          <a:xfrm>
            <a:off x="8275320" y="397764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92%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text-102"/>
          <p:cNvSpPr txBox="1"/>
          <p:nvPr/>
        </p:nvSpPr>
        <p:spPr>
          <a:xfrm>
            <a:off x="8275320" y="4617720"/>
            <a:ext cx="2862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같은 사진을 두 라벨러가 따로 판정해도 92% 만 일치합니다. 사실상 상한입니다.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배운 점: 라벨의 질이 양보다 중요했다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card-103"/>
          <p:cNvSpPr/>
          <p:nvPr/>
        </p:nvSpPr>
        <p:spPr>
          <a:xfrm>
            <a:off x="777240" y="1645920"/>
            <a:ext cx="336499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4" name="text-104"/>
          <p:cNvSpPr txBox="1"/>
          <p:nvPr/>
        </p:nvSpPr>
        <p:spPr>
          <a:xfrm>
            <a:off x="10972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검색어로 자동 라벨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-105"/>
          <p:cNvSpPr txBox="1"/>
          <p:nvPr/>
        </p:nvSpPr>
        <p:spPr>
          <a:xfrm>
            <a:off x="1097280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1만 장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106"/>
          <p:cNvSpPr txBox="1"/>
          <p:nvPr/>
        </p:nvSpPr>
        <p:spPr>
          <a:xfrm>
            <a:off x="1097280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−0.5%p</a:t>
            </a:r>
            <a:endParaRPr lang="ko-KR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text-107"/>
          <p:cNvSpPr txBox="1"/>
          <p:nvPr/>
        </p:nvSpPr>
        <p:spPr>
          <a:xfrm>
            <a:off x="1097280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73.9% → 73.4%, 효과 없음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card-108"/>
          <p:cNvSpPr/>
          <p:nvPr/>
        </p:nvSpPr>
        <p:spPr>
          <a:xfrm>
            <a:off x="4416552" y="1645920"/>
            <a:ext cx="336499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-109"/>
          <p:cNvSpPr txBox="1"/>
          <p:nvPr/>
        </p:nvSpPr>
        <p:spPr>
          <a:xfrm>
            <a:off x="4736592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사진을 직접 보고 라벨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text-110"/>
          <p:cNvSpPr txBox="1"/>
          <p:nvPr/>
        </p:nvSpPr>
        <p:spPr>
          <a:xfrm>
            <a:off x="4736592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280장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-111"/>
          <p:cNvSpPr txBox="1"/>
          <p:nvPr/>
        </p:nvSpPr>
        <p:spPr>
          <a:xfrm>
            <a:off x="4736592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+5.9%p</a:t>
            </a:r>
            <a:endParaRPr lang="ko-KR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text-112"/>
          <p:cNvSpPr txBox="1"/>
          <p:nvPr/>
        </p:nvSpPr>
        <p:spPr>
          <a:xfrm>
            <a:off x="4736592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적은 사진으로 크게 오름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3" name="card-113"/>
          <p:cNvSpPr/>
          <p:nvPr/>
        </p:nvSpPr>
        <p:spPr>
          <a:xfrm>
            <a:off x="8055864" y="1645920"/>
            <a:ext cx="3364992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14" name="text-114"/>
          <p:cNvSpPr txBox="1"/>
          <p:nvPr/>
        </p:nvSpPr>
        <p:spPr>
          <a:xfrm>
            <a:off x="8375904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한국 스타일 사진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-115"/>
          <p:cNvSpPr txBox="1"/>
          <p:nvPr/>
        </p:nvSpPr>
        <p:spPr>
          <a:xfrm>
            <a:off x="8375904" y="23042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98장 추가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6" name="text-116"/>
          <p:cNvSpPr txBox="1"/>
          <p:nvPr/>
        </p:nvSpPr>
        <p:spPr>
          <a:xfrm>
            <a:off x="8375904" y="27432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40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67 → 77%</a:t>
            </a:r>
            <a:endParaRPr lang="ko-KR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text-117"/>
          <p:cNvSpPr txBox="1"/>
          <p:nvPr/>
        </p:nvSpPr>
        <p:spPr>
          <a:xfrm>
            <a:off x="8375904" y="3611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한국 사진 정확도 (v1 기준)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text-118"/>
          <p:cNvSpPr txBox="1"/>
          <p:nvPr/>
        </p:nvSpPr>
        <p:spPr>
          <a:xfrm>
            <a:off x="777240" y="489204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6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실제로 쓰일 사진과 비슷한 데이터를, 기준을 맞춰 정확하게 다는 것이 가장 효과가 컸습니다.</a:t>
            </a:r>
            <a:endParaRPr lang="en-US" altLang="ko-KR" sz="1600" dirty="0">
              <a:solidFill>
                <a:schemeClr val="tx2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6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기준이 다른 라벨은 섞으면 오히려 떨어져서 항목마다 효과를 재서 골라 썼습니다.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10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한계와 다음 단계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-119"/>
          <p:cNvSpPr txBox="1"/>
          <p:nvPr/>
        </p:nvSpPr>
        <p:spPr>
          <a:xfrm>
            <a:off x="777240" y="1645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한계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-120"/>
          <p:cNvSpPr txBox="1"/>
          <p:nvPr/>
        </p:nvSpPr>
        <p:spPr>
          <a:xfrm>
            <a:off x="777240" y="21031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메이크업이 가장 약함 (약 67%)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학습 사진이 서양 스타일 위주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라벨을 현장 전문가가 아직 검수하지 않음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-121"/>
          <p:cNvSpPr txBox="1"/>
          <p:nvPr/>
        </p:nvSpPr>
        <p:spPr>
          <a:xfrm>
            <a:off x="777240" y="3657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800" b="1" dirty="0">
                <a:solidFill>
                  <a:schemeClr val="accent3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다음 단계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122"/>
          <p:cNvSpPr txBox="1"/>
          <p:nvPr/>
        </p:nvSpPr>
        <p:spPr>
          <a:xfrm>
            <a:off x="777240" y="411480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전문가 검수 도구로 분야별 채점 → 다시 학습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한국 스타일 사진, 특히 메이크업 사진 추가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6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· 학습 사진의 권리 확보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7" name="review-123" descr="전문가 검수 도구 화면: 기장 · 커트 · 연출 항목마다 맞음 · 틀림 · 판단 불가 버튼과 정답 고르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600200"/>
            <a:ext cx="3822192" cy="3982212"/>
          </a:xfrm>
          <a:prstGeom prst="rect">
            <a:avLst/>
          </a:prstGeom>
        </p:spPr>
      </p:pic>
      <p:sp>
        <p:nvSpPr>
          <p:cNvPr id="8" name="frame-124"/>
          <p:cNvSpPr/>
          <p:nvPr/>
        </p:nvSpPr>
        <p:spPr>
          <a:xfrm>
            <a:off x="7589520" y="1600200"/>
            <a:ext cx="3822192" cy="3982212"/>
          </a:xfrm>
          <a:prstGeom prst="rect">
            <a:avLst/>
          </a:prstGeom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-125"/>
          <p:cNvSpPr txBox="1"/>
          <p:nvPr/>
        </p:nvSpPr>
        <p:spPr>
          <a:xfrm>
            <a:off x="7589520" y="566928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전문가 검수 도구: 항목마다 맞음 · 틀림을 누르고 정답을 고릅니다</a:t>
            </a:r>
            <a:endParaRPr lang="ko-KR" sz="11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11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-126"/>
          <p:cNvSpPr txBox="1"/>
          <p:nvPr/>
        </p:nvSpPr>
        <p:spPr>
          <a:xfrm>
            <a:off x="777240" y="274320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한 장으로 헤어 · 네일 · 메이크업 · 타투를 한국어로 설명하는 AI</a:t>
            </a:r>
            <a:endParaRPr lang="ko-KR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text-127"/>
          <p:cNvSpPr txBox="1"/>
          <p:nvPr/>
        </p:nvSpPr>
        <p:spPr>
          <a:xfrm>
            <a:off x="777240" y="3794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데모   </a:t>
            </a:r>
            <a:r>
              <a:rPr lang="ko-KR" altLang="en-US" sz="14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huggingface.co/spaces/kyoungminOh/beauty-style-ai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-128"/>
          <p:cNvSpPr txBox="1"/>
          <p:nvPr/>
        </p:nvSpPr>
        <p:spPr>
          <a:xfrm>
            <a:off x="77724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소스   </a:t>
            </a:r>
            <a:r>
              <a:rPr lang="ko-KR" altLang="en-US" sz="1400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github.com/rudals906377/AI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-129"/>
          <p:cNvSpPr txBox="1"/>
          <p:nvPr/>
        </p:nvSpPr>
        <p:spPr>
          <a:xfrm>
            <a:off x="777240" y="48463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인공지능 소프트웨어 / 오경민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7" name="card-130"/>
          <p:cNvSpPr/>
          <p:nvPr/>
        </p:nvSpPr>
        <p:spPr>
          <a:xfrm>
            <a:off x="8001000" y="1600200"/>
            <a:ext cx="3410712" cy="3977640"/>
          </a:xfrm>
          <a:prstGeom prst="roundRect">
            <a:avLst>
              <a:gd name="adj" fmla="val 3217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pic>
        <p:nvPicPr>
          <p:cNvPr id="8" name="qr-131" descr="데모 사이트 QR 코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828800"/>
            <a:ext cx="2834640" cy="2834640"/>
          </a:xfrm>
          <a:prstGeom prst="rect">
            <a:avLst/>
          </a:prstGeom>
        </p:spPr>
      </p:pic>
      <p:sp>
        <p:nvSpPr>
          <p:cNvPr id="9" name="text-132"/>
          <p:cNvSpPr txBox="1"/>
          <p:nvPr/>
        </p:nvSpPr>
        <p:spPr>
          <a:xfrm>
            <a:off x="8001000" y="484632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QR 을 찍어 직접 써 보세요</a:t>
            </a:r>
            <a:endParaRPr lang="ko-KR" sz="1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77240" y="54864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이런 분께 잘 어울려요</a:t>
            </a:r>
            <a:endParaRPr lang="ko-KR" sz="3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card-34"/>
          <p:cNvSpPr/>
          <p:nvPr/>
        </p:nvSpPr>
        <p:spPr>
          <a:xfrm>
            <a:off x="777240" y="1554480"/>
            <a:ext cx="2514600" cy="452628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pic>
        <p:nvPicPr>
          <p:cNvPr id="4" name="suits-35" descr="이런 분께 잘 어울려요 화면: 얼굴형 · 퍼스널 컬러 · 어깨선 · 목선 · 체형 · 키 · 모질 카드와 근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1645920"/>
            <a:ext cx="2114093" cy="4343400"/>
          </a:xfrm>
          <a:prstGeom prst="rect">
            <a:avLst/>
          </a:prstGeom>
        </p:spPr>
      </p:pic>
      <p:sp>
        <p:nvSpPr>
          <p:cNvPr id="5" name="text-36"/>
          <p:cNvSpPr txBox="1"/>
          <p:nvPr/>
        </p:nvSpPr>
        <p:spPr>
          <a:xfrm>
            <a:off x="3657600" y="1600200"/>
            <a:ext cx="7754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속 스타일이 어떤 분께 잘 어울리는지, 분야에 맞는 기준으로 추천합니다.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card-37"/>
          <p:cNvSpPr/>
          <p:nvPr/>
        </p:nvSpPr>
        <p:spPr>
          <a:xfrm>
            <a:off x="3657600" y="2194560"/>
            <a:ext cx="7754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7" name="text-38"/>
          <p:cNvSpPr txBox="1"/>
          <p:nvPr/>
        </p:nvSpPr>
        <p:spPr>
          <a:xfrm>
            <a:off x="3931920" y="2350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분야마다 다른 기준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-39"/>
          <p:cNvSpPr txBox="1"/>
          <p:nvPr/>
        </p:nvSpPr>
        <p:spPr>
          <a:xfrm>
            <a:off x="3931920" y="27157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헤어: 얼굴형 · 퍼스널 컬러 · 어깨선 · 체형 · 모질 · 추구미 · 관리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" name="card-40"/>
          <p:cNvSpPr/>
          <p:nvPr/>
        </p:nvSpPr>
        <p:spPr>
          <a:xfrm>
            <a:off x="3657600" y="3291840"/>
            <a:ext cx="7754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0" name="text-41"/>
          <p:cNvSpPr txBox="1"/>
          <p:nvPr/>
        </p:nvSpPr>
        <p:spPr>
          <a:xfrm>
            <a:off x="3931920" y="34472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확실한 특징만 근거로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1" name="text-42"/>
          <p:cNvSpPr txBox="1"/>
          <p:nvPr/>
        </p:nvSpPr>
        <p:spPr>
          <a:xfrm>
            <a:off x="3931920" y="38130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확신이 50% 미만인 특징은 쓰지 않고, 카드마다 근거를 함께 보여 줍니다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card-43"/>
          <p:cNvSpPr/>
          <p:nvPr/>
        </p:nvSpPr>
        <p:spPr>
          <a:xfrm>
            <a:off x="3657600" y="4389120"/>
            <a:ext cx="7754112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3" name="text-44"/>
          <p:cNvSpPr txBox="1"/>
          <p:nvPr/>
        </p:nvSpPr>
        <p:spPr>
          <a:xfrm>
            <a:off x="3931920" y="45445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chemeClr val="tx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진단이 아닌 추천</a:t>
            </a:r>
            <a:endParaRPr lang="ko-KR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-45"/>
          <p:cNvSpPr txBox="1"/>
          <p:nvPr/>
        </p:nvSpPr>
        <p:spPr>
          <a:xfrm>
            <a:off x="3931920" y="491032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400" dirty="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 속 사람의 얼굴형 · 피부 톤 · 체형은 판단하지 않습니다</a:t>
            </a:r>
            <a:endParaRPr lang="ko-KR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-46"/>
          <p:cNvSpPr txBox="1"/>
          <p:nvPr/>
        </p:nvSpPr>
        <p:spPr>
          <a:xfrm>
            <a:off x="3657600" y="5577840"/>
            <a:ext cx="7754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accent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메이크업은 눈매 · 입술 · 피부 유형, 네일은 손 모양 · 손톱 상태, 타투는 피부 톤 · 부위로 봅니다.</a:t>
            </a:r>
            <a:endParaRPr lang="ko-KR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658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6</a:t>
            </a:fld>
            <a:endParaRPr 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uty Mocha">
  <a:themeElements>
    <a:clrScheme name="Beauty Mocha">
      <a:dk1>
        <a:srgbClr val="2E2622"/>
      </a:dk1>
      <a:lt1>
        <a:srgbClr val="FBF8F3"/>
      </a:lt1>
      <a:dk2>
        <a:srgbClr val="5A4D43"/>
      </a:dk2>
      <a:lt2>
        <a:srgbClr val="F4EFE8"/>
      </a:lt2>
      <a:accent1>
        <a:srgbClr val="8F6654"/>
      </a:accent1>
      <a:accent2>
        <a:srgbClr val="A47864"/>
      </a:accent2>
      <a:accent3>
        <a:srgbClr val="7A5644"/>
      </a:accent3>
      <a:accent4>
        <a:srgbClr val="74665A"/>
      </a:accent4>
      <a:accent5>
        <a:srgbClr val="D6CABB"/>
      </a:accent5>
      <a:accent6>
        <a:srgbClr val="E9E1D6"/>
      </a:accent6>
      <a:hlink>
        <a:srgbClr val="7A5644"/>
      </a:hlink>
      <a:folHlink>
        <a:srgbClr val="74665A"/>
      </a:folHlink>
    </a:clrScheme>
    <a:fontScheme name="Beauty Mocha">
      <a:majorFont>
        <a:latin typeface="Batang"/>
        <a:ea typeface="Batang"/>
        <a:cs typeface=""/>
        <a:font script="Jpan" typeface="游ゴシック Light"/>
        <a:font script="Hang" typeface="Batang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tang"/>
        <a:ea typeface="Batang"/>
        <a:cs typeface=""/>
        <a:font script="Jpan" typeface="游ゴシック"/>
        <a:font script="Hang" typeface="Batang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1291</Words>
  <Application>Microsoft Office PowerPoint</Application>
  <PresentationFormat>와이드스크린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Noto Sans KR Black</vt:lpstr>
      <vt:lpstr>맑은 고딕</vt:lpstr>
      <vt:lpstr>Batang</vt:lpstr>
      <vt:lpstr>Arial</vt:lpstr>
      <vt:lpstr>Beauty Mocha</vt:lpstr>
      <vt:lpstr>뷰티 스타일 AI 분석  인공지능 소프트웨어 / 오경민 </vt:lpstr>
      <vt:lpstr>이 머리, 뭐라고 부르죠?</vt:lpstr>
      <vt:lpstr>시연: 직접 써 보세요</vt:lpstr>
      <vt:lpstr>사진 한 장 → 일곱 가지 결과</vt:lpstr>
      <vt:lpstr>시술 요청서</vt:lpstr>
      <vt:lpstr>이런 분께 잘 어울려요</vt:lpstr>
      <vt:lpstr>동작 방식</vt:lpstr>
      <vt:lpstr>확실할 때만 단정합니다</vt:lpstr>
      <vt:lpstr>결과: 53% → 75%</vt:lpstr>
      <vt:lpstr>배운 점: 라벨의 질이 양보다 중요했다</vt:lpstr>
      <vt:lpstr>한계와 다음 단계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뷰티 스타일 AI 분석 발표</dc:title>
  <dc:subject>PptxGenJS Presentation</dc:subject>
  <dc:creator>PptxGenJS</dc:creator>
  <cp:lastModifiedBy>오 경민</cp:lastModifiedBy>
  <cp:revision>3</cp:revision>
  <dcterms:created xsi:type="dcterms:W3CDTF">2026-10-06T01:15:10Z</dcterms:created>
  <dcterms:modified xsi:type="dcterms:W3CDTF">2026-10-06T01:30:31Z</dcterms:modified>
</cp:coreProperties>
</file>